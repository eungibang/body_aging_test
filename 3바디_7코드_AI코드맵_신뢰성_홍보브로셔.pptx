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5603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통합 웰니스 건강 진단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임직원 건강경영 및 대국민 멘탈 웰니스 확산 프로젝트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3바디 7코드 AI 코드맵 신뢰성 브로셔</a:t>
            </a:r>
          </a:p>
          <a:p>
            <a:pPr>
              <a:spcAft>
                <a:spcPts val="2400"/>
              </a:spcAft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몸 · 마음 · 뇌 통합 건강나이 진단과 7코드 에너지 솔루션의 과학적 타당성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공동 연구 개발: 국가공인 브레인트레이너 전문가 단체 · 한국뇌과학연구원 · 글로벌사이버대학교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제공 기관: 브레인트레이닝센터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INTEGRATED HEALTH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건강의 새로운 관점: 신체·마음·뇌의 통합적 균형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💪 신체 위주 관리의 한계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반쪽짜리 건강 관리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대부분의 사람들은 건강이라고 하면 주로 헬스, 요가, 식단 등 육체적인 관리에만 전념합니다. 하지만 몸만 가꾼다고 해서 삶의 활력이 저절로 채워지지는 않습니다.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유기적 연관성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몸의 긴장은 뇌의 스트레스를 유발하고, 지친 뇌는 다시 신체 소화기계 및 자율신경계 저하로 이어집니다.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❤️ 방치되는 마음의 피로와 스트레스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일상 스트레스 인지율 25.9% (질병관리청)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성인 4명 중 1명은 일상 중 심한 스트레스를 느끼며, 특히 주 경제 활동층인 30대와 40대의 스트레스 인지가 매우 높게 나타납니다.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직장인 번아웃 경험률 60~70%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직무 및 대인관계 스트레스로 인해 정서적 탈진 상태를 경험한 비율은 직장인 대상 여러 통계 조사에서 심각한 수치로 드러나고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🧠 뇌 피로와 인지 노화 방치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스마트폰 과의존과 디지털 치매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과도한 디지털 기기 사용으로 현대인의 전두엽은 끊임없이 혹사당하고 있습니다. 이는 주의집중력 저하와 단기 기억력 감퇴라는 브레인 피로로 이어집니다.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예방적 뇌 관리의 공백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기존 건강검진은 구조적 이상(종양, 뇌졸중 등)만 잡아낼 뿐, 일상적인 인지 기능 저하나 스트레스 누적으로 인한 뇌 기능 저하는 평가하지 못합니다.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4-AGE DIAGNOSIS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3BODY 다차원 측정: 4대 나이 진단 시스템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💪 몸나이 (Physical)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핵심 측정 항목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- 거북목 각도</a:t>
            </a:r>
            <a:br/>
            <a:r>
              <a:t>- 척추 측만 정렬</a:t>
            </a:r>
            <a:br/>
            <a:r>
              <a:t>- 한발 서기 균형 감각</a:t>
            </a:r>
            <a:br/>
            <a:r>
              <a:t>- 스쿼트 하체 근력</a:t>
            </a:r>
            <a:br/>
            <a:r>
              <a:t>- 푸시업 상체 근력</a:t>
            </a:r>
            <a:br/>
            <a:r>
              <a:t>- 전굴 유연성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진단 지표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신체 비대칭성과 가동범위, 근력/근지구력을 복합 연산하여 신체적 기능 상태를 나이로 정량화합니다.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55448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🧠 뇌나이 (Cognitive)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핵심 측정 항목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- 시각 인지 반응 속도</a:t>
            </a:r>
            <a:br/>
            <a:r>
              <a:t>- Stroop 충동 억제</a:t>
            </a:r>
            <a:br/>
            <a:r>
              <a:t>- 다중 항목 작업 기억력</a:t>
            </a:r>
            <a:br/>
            <a:r>
              <a:t>- 좌우뇌 균형 반응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진단 지표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인지 처리 속도 및 정보 선택·제어 전두엽 기능을 평가하여 인지 신경망 노화도를 도출합니다.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❤️ 마음나이 (Emotional)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핵심 측정 항목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- 7코드 에너지 분포</a:t>
            </a:r>
            <a:br/>
            <a:r>
              <a:t>- 스트레스 저항성</a:t>
            </a:r>
            <a:br/>
            <a:r>
              <a:t>- 감정적 탈진도</a:t>
            </a:r>
            <a:br/>
            <a:r>
              <a:t>- 무의식 불안 분석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진단 지표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체형 및 인지 데이터의 패턴 분석을 통해 자율신경계 병목 지점을 찾고 정서적 번아웃 나이를 산출합니다.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55448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👤 얼굴나이 (Skin &amp; Facial)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핵심 측정 항목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- 안면 비대칭도</a:t>
            </a:r>
            <a:br/>
            <a:r>
              <a:t>- 피부 주름 분포</a:t>
            </a:r>
            <a:br/>
            <a:r>
              <a:t>- 탄력도 및 처짐 현상</a:t>
            </a:r>
            <a:br/>
            <a:r>
              <a:t>- 안면 혈류 건강 상태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진단 지표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컴퓨터 비전을 활용해 눈가, 팔자 주름 깊이와 피부 처짐을 분석하여 외적인 생물학적 에이징 수준을 측정합니다.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SCIENTIFIC EVIDENCE OF 4-AGES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4대 나이 측정 시스템의 학술적 · 과학적 설계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💪 몸나이: 스포츠의학 표준 및 근감소 검증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ACSM(미국스포츠의학회) 및 국민체력100 데이터베이스 기반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연령대별 근력 및 평형성 표준 오차 범위를 모델링하여 근지구력 지표를 객관적으로 역산합니다.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사코페니아(근감소증) 및 평형성 지수 노화 상관관계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눈 감고 외발 서기 능력은 소뇌 및 자율신경계 평형 기능을 반영하는 대표적인 노화 척도입니다.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🧠 뇌나이: 전두엽 실행 기능 및 인지 통제력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Stroop(스트룹) 과제 및 전두엽 억제 제어 모델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시각 자극 간섭 하에 충동성 반응 속도(ms 단위)를 측정하여 전두엽의 실행 기능을 지표화합니다.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인지 자원 고갈과 백질 신경망 노화성 감소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다중 정보 처리를 담당하는 작업 기억력은 전두엽 피질 두께 감소 및 시냅스 가소성 저하와 정비례합니다.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❤️ 마음나이: PNI 및 자율신경계 긴장 분석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심신신경면역학(PNI)에 근거한 자율신경 활성도 매핑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체형 비대칭, 호흡 근육 긴장 상태를 바탕으로 심박변이도(HRV)와 조응하는 정서 상태를 유추합니다.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만성 스트레스로 인한 HPA 축 과부하 지수화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에너지 코드의 방전 수준은 호르몬 불균형과 정신적 탈진(번아웃)의 심도를 나타냅니다.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👤 얼굴나이: 외적 생물학적 노화 표지자 분석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컴퓨터 비전 및 딥러닝 기반 안면 랜드마크 분석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눈가 및 입가 팔자 주름 깊이, 피부 결 처짐 벡터를 기반으로 안면 노화 나이를 추정합니다.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E293B"/>
                </a:solidFill>
                <a:latin typeface="Malgun Gothic"/>
              </a:defRPr>
            </a:pPr>
            <a:r>
              <a:t>• 안면 대칭도와 순환 저하 징후 추적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안면 신경망 긴장 및 미세 대칭 붕괴는 내적 만성 피로와 뇌 피로의 중요한 피부 생리적 발현 지표입니다.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INTEGRATED BIOLOGICAL 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통합 건강나이(3BODY Core Balance Age) 산출 및 임상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🎛️ 통합 건강나이 산출 프레임워크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다차원 가중치 합산 역산 알고리즘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몸나이(40%), 뇌나이(20%), 마음나이(25%), 얼굴나이(15%)를 각 시스템 기여도에 따라 가중 결합하여 통합 '3BODY 밸런스 건강나이'를 산출합니다. 이는 단일 수치로 건강 상태를 종합 직관할 수 있게 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100점 만점 절대 채점과 노화 속도 정밀 보간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전체 검사 데이터를 100점 기준 절대 점수화하고 70점을 실제 나이(0 증감)의 기준점으로 삼아, 1점 증감당 0.4세 편차로 생물학적 노화 가속/감속 속도를 환산해 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🔬 PNI 및 신체-인지 노화 양방향 연쇄 기전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몸-마음-뇌의 생리학적 유기성 (HPA 축)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심리적 스트레스(마음)는 시상하부-뇌하수체-부신 축을 통해 코르티솔을 과분비시켜 신체 염증(몸)을 초래하고, 이는 염증성 사이토카인을 통해 전두엽(뇌)의 인지 기능 및 정서 제어력을 떨어뜨려 연쇄 노화를 유도합니다.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통합 진단의 임상적 우수성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특정 영역만 관리해서는 도미노처럼 연결된 만성 노화를 막을 수 없습니다. 3BODY 통합 나이는 몸, 마음, 뇌를 다차원적으로 아우르는 후성유전학적 건강 진단의 표준을 제시합니다.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INTEGRATED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7CODE 에너지 시스템의 자율신경총 및 내분비선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7CODE 시스템은 동양의 차크라(Chakra) 에너지 개념을 현대 해부생리학의 자율신경총 및 내분비선 작용과 비교 매핑하여 과학적 설득력을 극대화한 설명 모델입니다.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011680"/>
                <a:gridCol w="4389120"/>
                <a:gridCol w="91440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코드 구분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자율신경총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내분비선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기능 (생리적/심리적)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학술근거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1CODE (기초/생존)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골반 신경총 (Pelvic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부신 (Adrenal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코르티솔 등 스트레스 호르몬 통제, 그라운딩, 기초 체력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생리학적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2CODE (감정/관계)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하복부/요천추 신경총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생식선 (Ovaries/Testes)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에너지와 체액의 순환 작용, 감정 유연성, 창조력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상관성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3CODE (의욕/추진)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복강/태양신경총 (Celiac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췌장 (Pancreas)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대사 작용, 자율신경계 조절, 자기 통제 및 추진력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해부학적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4CODE (사랑/안정)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심장 신경총 (Cardiac Plexus)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흉선 (Thymus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면역 T세포 분비 도움, 심박수 조절, 정서적 안정 및 치유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5CODE (소통/표현)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경부/인두 신경총 (Cervical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갑상선 (Thyroid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대사 속도 제어, 자기 소통 및 언어 표현, 목/어깨 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6CODE (집중/통찰)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두개강 내 신경망 (송과체 주변)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뇌하수체 (Pituitary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멜라토닌 수면 주기 통제, 직관력, 시각 처리와 집중력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과학적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7CODE (방향/의미)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대뇌피질 및 전반 중추신경계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송과체 (Pineal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고위 인지 기능 조절, 통합적 평온함, 인생 목표 정립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타당성확보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HOLISTIC WELLNESS CLINICAL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통합 웰니스의 신경과학적 규명 및 임상 연구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🔬 워싱턴 대학교 SCAN 연구 (Nature, 2023)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신체-인지 작용 네트워크(SCAN)의 발견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대뇌 1차 운동 피질(Motor Cortex) 내부에 신체 움직임, 목표 지향적 계획, 자율신경계 조절(혈압, 심박 등) 기능이 완전히 얽혀 하나의 연동 네트워크로 작용함을 밝혀냈습니다.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3BODY 통합 치료의 해부학적 단초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특정 호흡이나 움직임(Body)이 어떻게 인지 제어(Brain)와 스트레스 조절(Mind)에 직접적인 피드백 경로를 만들어내는지 물리적으로 증명한 우수한 모델입니다.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🩸 뇌교육 명상(BEM) 임상 및 염증 유전자 변화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만성 염증 유전자 발현량 억제 (후성유전학적 영향)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BEM 훈련 8주 만에 스트레스와 세포 노화의 원인인 염증 유전자 발현이 유의하게 감소했습니다 (NFKB2 70% 감소, RELA 50% 감소, IL1B 80% 급감).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심혈관 위험 인자 개선 및 대사 개선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무작위 대조군 연구 결과, BEM 훈련을 수행한 그룹에서 저밀도 지단백(LDL) 콜레스테롤 수치가 평균 13.82 mg/dL 감소하는 등 신진대사의 객관적 개선을 입증했습니다.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HABIT FORMATION &amp; NEUROPLASTICITY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21일 · 66일 · 100일 습관 형성의 뇌과학적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🌱 21일 적응기 (Adaptation)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뇌의 새로운 자극 적응 단계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맥스웰 몰츠 박사의 저술에서 유래한 ‘21일 법칙’은 뇌가 낯선 행동이나 자아 이미지를 저항 없이 수용하기 시작하는 최소한의 적응 기간을 의미합니다.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뇌세포 화학 신호의 초기 점화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명상과 에너지 조절 훈련에 대한 초기 신경 경로의 생화학적 반응을 활성화시키는 진입 프로그램 설계 기준입니다.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🌿 66일 자동화기 (Automaticity)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UCL 필리파 랠리 교수팀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새로운 행동이 의식적 노력 없이 자동화(Automaticity)되는 데 평균 66일이 걸린다고 보고했습니다 (개인 및 난이도별 18~254일 소요).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안정적 항상성 형성 구간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훈련을 무의식적 일상 루틴으로 정착시켜, 좋아졌다 무너지는 일시적 적응의 한계를 넘는 전략적 기간으로 활용합니다.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🌳 100일 뇌 재배선 (Myelination)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신경가소성 및 수초화 원리 참고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반복적인 자극은 신경의 정보 처리 속도를 가속하는 축삭 수초화(Myelination)를 유도하여 신경 연결을 강화하는 데 기여합니다.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100일의 실천적 목표 설계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뉴런 결속을 유도하는 헤브의 법칙(Hebbian learning)을 반영하여, 삶의 근본적인 인지 필터와 태도를 리모델링하는 실천적 기간입니다.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REFERENCES &amp;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대규모 점검 성과 및 신뢰도 검증 레퍼런스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🚀 단기 대규모 측정 성과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64748B"/>
                </a:solidFill>
                <a:latin typeface="Malgun Gothic"/>
              </a:defRPr>
            </a:pPr>
            <a:r>
              <a:t>출시 2달 미만 누적 측정자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3200" b="1">
                <a:solidFill>
                  <a:srgbClr val="F59E0B"/>
                </a:solidFill>
                <a:latin typeface="Malgun Gothic"/>
              </a:defRPr>
            </a:pPr>
            <a:r>
              <a:t>8,000명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“단 2개월 만에 8,000명 이상의 고유 점검 데이터를 안정적으로 누적했습니다. 이는 하드웨어 리소스 최적화 및 2D 컴퓨터 비전 실시간 연산 안전성이 실전 현장에서 완벽하게 검증되었음을 대변합니다.”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🏢 관공서 및 대기업 · 단체 도입 레퍼런스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주요 지자체 복지 사업 지원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춘천시청, 포항시청, 춘천교육청, 천안시 행복키움단 등 시청 및 교육 기관 산하 건강/복지 프로그램으로 도입 및 운영되었습니다.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전문 의료진 및 체육 · 공익 단체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서울약사협회, 대구약사협회, 경북약사협회, 평택체육회, 안동노인회 등 높은 객관성이 요구되는 약사 및 보건 체육 단체 회원들을 대상으로 성공적인 단체 건강 지표 수립 검사를 실행했습니다.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대기업 복지 연계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IT 대기업인 카카오 등 소속 임직원의 멘탈 웰니스 측정 및 직장인 증후군 자가 예방 지원 툴로써 AI 코드맵 점검이 기여하고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