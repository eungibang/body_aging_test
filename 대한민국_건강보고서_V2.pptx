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371600"/>
            <a:ext cx="1645920" cy="5486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제2판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B82F6"/>
                </a:solidFill>
                <a:latin typeface="Malgun Gothic"/>
              </a:defRPr>
            </a:pPr>
            <a:r>
              <a:t>CODEMAP AI 대국민 3Body 통합 건강 통계 보고서</a:t>
            </a:r>
          </a:p>
          <a:p>
            <a:pPr>
              <a:spcAft>
                <a:spcPts val="1600"/>
              </a:spcAft>
              <a:defRPr sz="4400" b="1">
                <a:solidFill>
                  <a:srgbClr val="FFFFFF"/>
                </a:solidFill>
                <a:latin typeface="Malgun Gothic"/>
              </a:defRPr>
            </a:pPr>
            <a:r>
              <a:t>대한민국 건강 보고서 V2</a:t>
            </a:r>
          </a:p>
          <a:p>
            <a:pPr>
              <a:spcAft>
                <a:spcPts val="800"/>
              </a:spcAft>
              <a:defRPr sz="1400">
                <a:solidFill>
                  <a:srgbClr val="64748B"/>
                </a:solidFill>
                <a:latin typeface="Malgun Gothic"/>
              </a:defRPr>
            </a:pPr>
            <a:r>
              <a:t>분석 대상: 고유 사용자 3,267명 (V1 대비 +1,312명, 67.1% 증가)</a:t>
            </a:r>
          </a:p>
          <a:p>
            <a:pPr>
              <a:defRPr sz="1300">
                <a:solidFill>
                  <a:srgbClr val="64748B"/>
                </a:solidFill>
                <a:latin typeface="Malgun Gothic"/>
              </a:defRPr>
            </a:pPr>
            <a:r>
              <a:t>기준 일자: 2026. 06. 17.  |  데이터: members_v4 (AI분석 완료 기준)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Malgun Gothic"/>
              </a:defRPr>
            </a:pPr>
            <a:r>
              <a:t>OVERALL STATISTICS V2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📊 전국 점검 현황 요약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32918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4F46E5"/>
                </a:solidFill>
                <a:latin typeface="Malgun Gothic"/>
              </a:defRPr>
            </a:pPr>
            <a:r>
              <a:t>🏆 AI분석 완료 인원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0F172A"/>
                </a:solidFill>
                <a:latin typeface="Malgun Gothic"/>
              </a:defRPr>
            </a:pPr>
            <a:r>
              <a:t>3,267명</a:t>
            </a:r>
          </a:p>
          <a:p>
            <a:pPr>
              <a:defRPr sz="1300">
                <a:solidFill>
                  <a:srgbClr val="64748B"/>
                </a:solidFill>
                <a:latin typeface="Malgun Gothic"/>
              </a:defRPr>
            </a:pPr>
            <a:r>
              <a:t>남성 826명 / 여성 2,441명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4747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Malgun Gothic"/>
              </a:defRPr>
            </a:pPr>
            <a:r>
              <a:t>▲ V1 대비 +1,312명 (67.1% 증가)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20624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Malgun Gothic"/>
              </a:defRPr>
            </a:pPr>
            <a:r>
              <a:t>• PC 버전: 1,148명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Malgun Gothic"/>
              </a:defRPr>
            </a:pPr>
            <a:r>
              <a:t>• LITE 버전: 1,761명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Malgun Gothic"/>
              </a:defRPr>
            </a:pPr>
            <a:r>
              <a:t>• 기타: 358명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371600"/>
            <a:ext cx="32918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645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B82F6"/>
                </a:solidFill>
                <a:latin typeface="Malgun Gothic"/>
              </a:defRPr>
            </a:pPr>
            <a:r>
              <a:t>🎯 3Body 전체 평균 점수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2860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Malgun Gothic"/>
              </a:defRPr>
            </a:pPr>
            <a:r>
              <a:t>신체 (Body)</a:t>
            </a:r>
          </a:p>
          <a:p>
            <a:pPr>
              <a:defRPr sz="3000" b="1">
                <a:solidFill>
                  <a:srgbClr val="10B981"/>
                </a:solidFill>
                <a:latin typeface="Malgun Gothic"/>
              </a:defRPr>
            </a:pPr>
            <a:r>
              <a:t>70.5점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38328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Malgun Gothic"/>
              </a:defRPr>
            </a:pPr>
            <a:r>
              <a:t>뇌 (Brain)</a:t>
            </a:r>
          </a:p>
          <a:p>
            <a:pPr>
              <a:defRPr sz="3000" b="1">
                <a:solidFill>
                  <a:srgbClr val="3B82F6"/>
                </a:solidFill>
                <a:latin typeface="Malgun Gothic"/>
              </a:defRPr>
            </a:pPr>
            <a:r>
              <a:t>77.3점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448056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Malgun Gothic"/>
              </a:defRPr>
            </a:pPr>
            <a:r>
              <a:t>마음 (Mind)</a:t>
            </a:r>
          </a:p>
          <a:p>
            <a:pPr>
              <a:defRPr sz="3000" b="1">
                <a:solidFill>
                  <a:srgbClr val="EF4444"/>
                </a:solidFill>
                <a:latin typeface="Malgun Gothic"/>
              </a:defRPr>
            </a:pPr>
            <a:r>
              <a:t>58.6점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371600"/>
            <a:ext cx="32918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645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Malgun Gothic"/>
              </a:defRPr>
            </a:pPr>
            <a:r>
              <a:t>🔑 핵심 발견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2860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41.1% 이완 장애</a:t>
            </a:r>
            <a:br/>
            <a:r>
              <a:t>(1코드 최취약)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29184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20.4% 거북목 위험</a:t>
            </a:r>
            <a:br/>
            <a:r>
              <a:t>(V1 대비 +5.0%p)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429768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마음나이 &gt; 실제나이</a:t>
            </a:r>
            <a:br/>
            <a:r>
              <a:t>(전 연령대 +10세)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530352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99.4% 에너지 순환</a:t>
            </a:r>
            <a:br/>
            <a:r>
              <a:t>관리 필요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Malgun Gothic"/>
              </a:defRPr>
            </a:pPr>
            <a:r>
              <a:t>AGE-BASED 3BODY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📈 3Body 연령대별 건강 지표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60350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914400"/>
                <a:gridCol w="1280160"/>
                <a:gridCol w="1280160"/>
                <a:gridCol w="1280160"/>
              </a:tblGrid>
              <a:tr h="5283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연령대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인원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신체(Body)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뇌(Brain)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마음(Mind)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10대이하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31명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73.6점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60.6점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EF4444"/>
                          </a:solidFill>
                          <a:latin typeface="Malgun Gothic"/>
                        </a:defRPr>
                      </a:pPr>
                      <a:r>
                        <a:t>56.3점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20대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109명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75.6점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69.1점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EF4444"/>
                          </a:solidFill>
                          <a:latin typeface="Malgun Gothic"/>
                        </a:defRPr>
                      </a:pPr>
                      <a:r>
                        <a:t>59.9점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30대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202명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75.4점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76.3점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EF4444"/>
                          </a:solidFill>
                          <a:latin typeface="Malgun Gothic"/>
                        </a:defRPr>
                      </a:pPr>
                      <a:r>
                        <a:t>58.0점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40대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341명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75.4점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80.0점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60.5점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50대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790명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74.1점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79.4점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60.2점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60대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1,006명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69.3점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76.9점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EF4444"/>
                          </a:solidFill>
                          <a:latin typeface="Malgun Gothic"/>
                        </a:defRPr>
                      </a:pPr>
                      <a:r>
                        <a:t>58.4점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70대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640명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64.5점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76.9점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EF4444"/>
                          </a:solidFill>
                          <a:latin typeface="Malgun Gothic"/>
                        </a:defRPr>
                      </a:pPr>
                      <a:r>
                        <a:t>56.8점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80대이상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148명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61.7점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74.4점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EF4444"/>
                          </a:solidFill>
                          <a:latin typeface="Malgun Gothic"/>
                        </a:defRPr>
                      </a:pPr>
                      <a:r>
                        <a:t>55.4점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498079" y="1371600"/>
            <a:ext cx="393192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164592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F46E5"/>
                </a:solidFill>
                <a:latin typeface="Malgun Gothic"/>
              </a:defRPr>
            </a:pPr>
            <a:r>
              <a:t>💡 핵심 인사이트</a:t>
            </a:r>
          </a:p>
          <a:p>
            <a:pPr>
              <a:defRPr sz="800" b="0">
                <a:solidFill>
                  <a:srgbClr val="1E293B"/>
                </a:solidFill>
                <a:latin typeface="Malgun Gothic"/>
              </a:defRPr>
            </a:pPr>
          </a:p>
          <a:p>
            <a:pPr>
              <a:defRPr sz="1100" b="0">
                <a:solidFill>
                  <a:srgbClr val="1E293B"/>
                </a:solidFill>
                <a:latin typeface="Malgun Gothic"/>
              </a:defRPr>
            </a:pPr>
            <a:r>
              <a:t>신체: 20대(76.3)에서 정점 → 80대(61.7)까지 완만 감소</a:t>
            </a:r>
          </a:p>
          <a:p>
            <a:pPr>
              <a:defRPr sz="600" b="0">
                <a:solidFill>
                  <a:srgbClr val="1E293B"/>
                </a:solidFill>
                <a:latin typeface="Malgun Gothic"/>
              </a:defRPr>
            </a:pPr>
          </a:p>
          <a:p>
            <a:pPr>
              <a:defRPr sz="1100" b="0">
                <a:solidFill>
                  <a:srgbClr val="1E293B"/>
                </a:solidFill>
                <a:latin typeface="Malgun Gothic"/>
              </a:defRPr>
            </a:pPr>
            <a:r>
              <a:t>뇌: 40대(80.0)에서 정점 → 80대(74.4)까지 잘 보존</a:t>
            </a:r>
          </a:p>
          <a:p>
            <a:pPr>
              <a:defRPr sz="600" b="0">
                <a:solidFill>
                  <a:srgbClr val="1E293B"/>
                </a:solidFill>
                <a:latin typeface="Malgun Gothic"/>
              </a:defRPr>
            </a:pPr>
          </a:p>
          <a:p>
            <a:pPr>
              <a:defRPr sz="1100" b="1">
                <a:solidFill>
                  <a:srgbClr val="EF4444"/>
                </a:solidFill>
                <a:latin typeface="Malgun Gothic"/>
              </a:defRPr>
            </a:pPr>
            <a:r>
              <a:t>마음: 전 연령대 60점 미만으로 만성 저조 (최대 과제)</a:t>
            </a:r>
          </a:p>
          <a:p>
            <a:pPr>
              <a:defRPr sz="600" b="0">
                <a:solidFill>
                  <a:srgbClr val="1E293B"/>
                </a:solidFill>
                <a:latin typeface="Malgun Gothic"/>
              </a:defRPr>
            </a:pPr>
          </a:p>
          <a:p>
            <a:pPr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▶ 마음 점수가 유일하게 전 연령대에서 60점을 넘지 못하며, 현대인의 정서적 스트레스가 가장 심각한 건강 과제임을 입증합니다.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Malgun Gothic"/>
              </a:defRPr>
            </a:pPr>
            <a:r>
              <a:t>7CODE VULNERABILITY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⚡ 7Code 웰니스 에너지 취약점 분석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60350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017520"/>
                <a:gridCol w="1188720"/>
                <a:gridCol w="118872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순위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코드 (증상)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인원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비율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1코드 (힐링 라이프 - 이완 장애)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F46E5"/>
                          </a:solidFill>
                          <a:latin typeface="Malgun Gothic"/>
                        </a:defRPr>
                      </a:pPr>
                      <a:r>
                        <a:t>1,343명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EF4444"/>
                          </a:solidFill>
                          <a:latin typeface="Malgun Gothic"/>
                        </a:defRPr>
                      </a:pPr>
                      <a:r>
                        <a:t>41.2%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5코드 (집중·직관 - 인지 피로)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F46E5"/>
                          </a:solidFill>
                          <a:latin typeface="Malgun Gothic"/>
                        </a:defRPr>
                      </a:pPr>
                      <a:r>
                        <a:t>491명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EF4444"/>
                          </a:solidFill>
                          <a:latin typeface="Malgun Gothic"/>
                        </a:defRPr>
                      </a:pPr>
                      <a:r>
                        <a:t>15.1%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6코드 (통찰·지혜 - 두뇌 저하)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416명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12.8%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2코드 (스트레스 관리 - 정서 긴장)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373명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11.5%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3코드 (감정 균형 - 무기력)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286명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8.8%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4코드 (활력 충전 - 에너지 고갈)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210명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6.4%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7코드 (의식·영성 - 정체성 혼란)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137명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4.2%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498079" y="1371600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1645920"/>
            <a:ext cx="3383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F4444"/>
                </a:solidFill>
                <a:latin typeface="Malgun Gothic"/>
              </a:defRPr>
            </a:pPr>
            <a:r>
              <a:t>🔥 국민 10명 중 4명</a:t>
            </a:r>
          </a:p>
          <a:p>
            <a:pPr>
              <a:defRPr sz="1400" b="1">
                <a:solidFill>
                  <a:srgbClr val="1E293B"/>
                </a:solidFill>
                <a:latin typeface="Malgun Gothic"/>
              </a:defRPr>
            </a:pPr>
            <a:r>
              <a:t>이완 장애 (1코드 최취약)</a:t>
            </a:r>
          </a:p>
          <a:p>
            <a:pPr>
              <a:defRPr sz="800" b="0">
                <a:solidFill>
                  <a:srgbClr val="1E293B"/>
                </a:solidFill>
                <a:latin typeface="Malgun Gothic"/>
              </a:defRPr>
            </a:pPr>
          </a:p>
          <a:p>
            <a:pPr>
              <a:defRPr sz="1300" b="1">
                <a:solidFill>
                  <a:srgbClr val="F59E0B"/>
                </a:solidFill>
                <a:latin typeface="Malgun Gothic"/>
              </a:defRPr>
            </a:pPr>
            <a:r>
              <a:t>V1 (38.4%) → V2 (41.1%)</a:t>
            </a:r>
          </a:p>
          <a:p>
            <a:pPr>
              <a:defRPr sz="1300" b="1">
                <a:solidFill>
                  <a:srgbClr val="EF4444"/>
                </a:solidFill>
                <a:latin typeface="Malgun Gothic"/>
              </a:defRPr>
            </a:pPr>
            <a:r>
              <a:t>▲ 2.7%p 악화</a:t>
            </a:r>
          </a:p>
          <a:p>
            <a:pPr>
              <a:defRPr sz="800" b="0">
                <a:solidFill>
                  <a:srgbClr val="1E293B"/>
                </a:solidFill>
                <a:latin typeface="Malgun Gothic"/>
              </a:defRPr>
            </a:pPr>
          </a:p>
          <a:p>
            <a:pPr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표본이 67% 증가해도 동일한 패턴이 강화되어, 이완 능력 결핍이 대한민국 국민의 가장 보편적 취약점임이 재확인되었습니다.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Malgun Gothic"/>
              </a:defRPr>
            </a:pPr>
            <a:r>
              <a:t>POSTURE ALIGNMENT ANALYSIS (N=3,008)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🦴 신체 관절 정렬 및 자세 위험도 분석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6766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005840"/>
                <a:gridCol w="1005840"/>
                <a:gridCol w="1005840"/>
                <a:gridCol w="1005840"/>
              </a:tblGrid>
              <a:tr h="5334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자세 지표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Good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Fair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Poor (위험)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표본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거북목 (FHP) 및 경추 정렬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0B981"/>
                          </a:solidFill>
                          <a:latin typeface="Malgun Gothic"/>
                        </a:defRPr>
                      </a:pPr>
                      <a:r>
                        <a:t>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59E0B"/>
                          </a:solidFill>
                          <a:latin typeface="Malgun Gothic"/>
                        </a:defRPr>
                      </a:pPr>
                      <a:r>
                        <a:t>79.1%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EF4444"/>
                          </a:solidFill>
                          <a:latin typeface="Malgun Gothic"/>
                        </a:defRPr>
                      </a:pPr>
                      <a:r>
                        <a:t>20.4%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3,008명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어깨 / 골반 좌우 대칭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0B981"/>
                          </a:solidFill>
                          <a:latin typeface="Malgun Gothic"/>
                        </a:defRPr>
                      </a:pPr>
                      <a:r>
                        <a:t>59.4%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59E0B"/>
                          </a:solidFill>
                          <a:latin typeface="Malgun Gothic"/>
                        </a:defRPr>
                      </a:pPr>
                      <a:r>
                        <a:t>38.7%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3,008명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측면 척추 정렬 (흉추/요추)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0B981"/>
                          </a:solidFill>
                          <a:latin typeface="Malgun Gothic"/>
                        </a:defRPr>
                      </a:pPr>
                      <a:r>
                        <a:t>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59E0B"/>
                          </a:solidFill>
                          <a:latin typeface="Malgun Gothic"/>
                        </a:defRPr>
                      </a:pPr>
                      <a:r>
                        <a:t>77.0%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EF4444"/>
                          </a:solidFill>
                          <a:latin typeface="Malgun Gothic"/>
                        </a:defRPr>
                      </a:pPr>
                      <a:r>
                        <a:t>19.6%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3,008명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하체 기저면 (무릎/다리/발목)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0B981"/>
                          </a:solidFill>
                          <a:latin typeface="Malgun Gothic"/>
                        </a:defRPr>
                      </a:pPr>
                      <a:r>
                        <a:t>90.0%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59E0B"/>
                          </a:solidFill>
                          <a:latin typeface="Malgun Gothic"/>
                        </a:defRPr>
                      </a:pPr>
                      <a:r>
                        <a:t>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3,008명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귀-어깨-고관절-무릎 수직선 이탈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0B981"/>
                          </a:solidFill>
                          <a:latin typeface="Malgun Gothic"/>
                        </a:defRPr>
                      </a:pPr>
                      <a:r>
                        <a:t>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59E0B"/>
                          </a:solidFill>
                          <a:latin typeface="Malgun Gothic"/>
                        </a:defRPr>
                      </a:pPr>
                      <a:r>
                        <a:t>76.2%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EF4444"/>
                          </a:solidFill>
                          <a:latin typeface="Malgun Gothic"/>
                        </a:defRPr>
                      </a:pPr>
                      <a:r>
                        <a:t>22.4%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3,008명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863840" y="1371600"/>
            <a:ext cx="35661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164592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F4444"/>
                </a:solidFill>
                <a:latin typeface="Malgun Gothic"/>
              </a:defRPr>
            </a:pPr>
            <a:r>
              <a:t>⚠️ V1 대비 악화 추이</a:t>
            </a:r>
          </a:p>
          <a:p>
            <a:pPr>
              <a:defRPr sz="600" b="0">
                <a:solidFill>
                  <a:srgbClr val="1E293B"/>
                </a:solidFill>
                <a:latin typeface="Malgun Gothic"/>
              </a:defRPr>
            </a:pPr>
          </a:p>
          <a:p>
            <a:pPr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거북목 Poor: 15.4% → 20.4%</a:t>
            </a:r>
          </a:p>
          <a:p>
            <a:pPr>
              <a:defRPr sz="1100" b="1">
                <a:solidFill>
                  <a:srgbClr val="EF4444"/>
                </a:solidFill>
                <a:latin typeface="Malgun Gothic"/>
              </a:defRPr>
            </a:pPr>
            <a:r>
              <a:t>(▲ +5.0%p)</a:t>
            </a:r>
          </a:p>
          <a:p>
            <a:pPr>
              <a:defRPr sz="600" b="0">
                <a:solidFill>
                  <a:srgbClr val="1E293B"/>
                </a:solidFill>
                <a:latin typeface="Malgun Gothic"/>
              </a:defRPr>
            </a:pPr>
          </a:p>
          <a:p>
            <a:pPr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수직선 이탈 Poor: 15.3% → 22.4%</a:t>
            </a:r>
          </a:p>
          <a:p>
            <a:pPr>
              <a:defRPr sz="1100" b="1">
                <a:solidFill>
                  <a:srgbClr val="EF4444"/>
                </a:solidFill>
                <a:latin typeface="Malgun Gothic"/>
              </a:defRPr>
            </a:pPr>
            <a:r>
              <a:t>(▲ +7.1%p)</a:t>
            </a:r>
          </a:p>
          <a:p>
            <a:pPr>
              <a:defRPr sz="600" b="0">
                <a:solidFill>
                  <a:srgbClr val="1E293B"/>
                </a:solidFill>
                <a:latin typeface="Malgun Gothic"/>
              </a:defRPr>
            </a:pPr>
          </a:p>
          <a:p>
            <a:pPr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국민 5명 중 1명 이상이 전신 수직 정렬 위험 상태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Malgun Gothic"/>
              </a:defRPr>
            </a:pPr>
            <a:r>
              <a:t>WELLNESS AGE ESTIMATION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🧬 건강나이(웰니스 에이지) 연령대별 비교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4241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554480"/>
                <a:gridCol w="1554480"/>
                <a:gridCol w="1554480"/>
                <a:gridCol w="1554480"/>
                <a:gridCol w="1554480"/>
                <a:gridCol w="155448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연령대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실제 나이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신체나이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뇌나이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마음나이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얼굴나이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종합나이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20대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25.6세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26.9세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EF4444"/>
                          </a:solidFill>
                          <a:latin typeface="Malgun Gothic"/>
                        </a:defRPr>
                      </a:pPr>
                      <a:r>
                        <a:t>35.8세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EF4444"/>
                          </a:solidFill>
                          <a:latin typeface="Malgun Gothic"/>
                        </a:defRPr>
                      </a:pPr>
                      <a:r>
                        <a:t>35.9세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25.0세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30.7세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30대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34.0세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33.4세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EF4444"/>
                          </a:solidFill>
                          <a:latin typeface="Malgun Gothic"/>
                        </a:defRPr>
                      </a:pPr>
                      <a:r>
                        <a:t>37.4세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EF4444"/>
                          </a:solidFill>
                          <a:latin typeface="Malgun Gothic"/>
                        </a:defRPr>
                      </a:pPr>
                      <a:r>
                        <a:t>47.4세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32.3세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36.4세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40대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45.1세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43.4세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B82F6"/>
                          </a:solidFill>
                          <a:latin typeface="Malgun Gothic"/>
                        </a:defRPr>
                      </a:pPr>
                      <a:r>
                        <a:t>41.4세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EF4444"/>
                          </a:solidFill>
                          <a:latin typeface="Malgun Gothic"/>
                        </a:defRPr>
                      </a:pPr>
                      <a:r>
                        <a:t>56.7세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42.1세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44.5세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50대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55.0세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53.5세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B82F6"/>
                          </a:solidFill>
                          <a:latin typeface="Malgun Gothic"/>
                        </a:defRPr>
                      </a:pPr>
                      <a:r>
                        <a:t>47.3세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EF4444"/>
                          </a:solidFill>
                          <a:latin typeface="Malgun Gothic"/>
                        </a:defRPr>
                      </a:pPr>
                      <a:r>
                        <a:t>66.6세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51.9세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53.3세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60대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64.6세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65.1세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B82F6"/>
                          </a:solidFill>
                          <a:latin typeface="Malgun Gothic"/>
                        </a:defRPr>
                      </a:pPr>
                      <a:r>
                        <a:t>54.8세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EF4444"/>
                          </a:solidFill>
                          <a:latin typeface="Malgun Gothic"/>
                        </a:defRPr>
                      </a:pPr>
                      <a:r>
                        <a:t>75.0세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61.8세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63.0세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70대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73.8세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74.5세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B82F6"/>
                          </a:solidFill>
                          <a:latin typeface="Malgun Gothic"/>
                        </a:defRPr>
                      </a:pPr>
                      <a:r>
                        <a:t>58.7세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EF4444"/>
                          </a:solidFill>
                          <a:latin typeface="Malgun Gothic"/>
                        </a:defRPr>
                      </a:pPr>
                      <a:r>
                        <a:t>81.3세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71.0세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70.2세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31520" y="4846320"/>
            <a:ext cx="10515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5029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Malgun Gothic"/>
              </a:defRPr>
            </a:pPr>
            <a:r>
              <a:t>💡 뇌나이는 실제 나이보다 항상 10~15세 젊고(파란색), 마음나이는 항상 10세 이상 높습니다(빨간색). 현대인의 뇌는 젊지만 마음은 늙어가고 있습니다.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Malgun Gothic"/>
              </a:defRPr>
            </a:pPr>
            <a:r>
              <a:t>REPORT COMPARISON: V1 → V2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📊 V1 vs V2 핵심 변화 비교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371600"/>
          <a:ext cx="9144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103120"/>
                <a:gridCol w="2103120"/>
                <a:gridCol w="219456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지표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V1 (1,955명)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V2 (3,267명)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변화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표본 규모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1,955명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F46E5"/>
                          </a:solidFill>
                          <a:latin typeface="Malgun Gothic"/>
                        </a:defRPr>
                      </a:pPr>
                      <a:r>
                        <a:t>3,267명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  <a:latin typeface="Malgun Gothic"/>
                        </a:defRPr>
                      </a:pPr>
                      <a:r>
                        <a:t>+67.1%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신체(Body) 평균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71.4점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F46E5"/>
                          </a:solidFill>
                          <a:latin typeface="Malgun Gothic"/>
                        </a:defRPr>
                      </a:pPr>
                      <a:r>
                        <a:t>70.5점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EF4444"/>
                          </a:solidFill>
                          <a:latin typeface="Malgun Gothic"/>
                        </a:defRPr>
                      </a:pPr>
                      <a:r>
                        <a:t>▼ 0.9점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뇌(Brain) 평균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76.5점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F46E5"/>
                          </a:solidFill>
                          <a:latin typeface="Malgun Gothic"/>
                        </a:defRPr>
                      </a:pPr>
                      <a:r>
                        <a:t>77.3점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  <a:latin typeface="Malgun Gothic"/>
                        </a:defRPr>
                      </a:pPr>
                      <a:r>
                        <a:t>▲ 0.8점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마음(Mind) 평균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59.5점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F46E5"/>
                          </a:solidFill>
                          <a:latin typeface="Malgun Gothic"/>
                        </a:defRPr>
                      </a:pPr>
                      <a:r>
                        <a:t>58.6점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EF4444"/>
                          </a:solidFill>
                          <a:latin typeface="Malgun Gothic"/>
                        </a:defRPr>
                      </a:pPr>
                      <a:r>
                        <a:t>▼ 0.9점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1코드 취약 비율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38.4%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F46E5"/>
                          </a:solidFill>
                          <a:latin typeface="Malgun Gothic"/>
                        </a:defRPr>
                      </a:pPr>
                      <a:r>
                        <a:t>41.1%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EF4444"/>
                          </a:solidFill>
                          <a:latin typeface="Malgun Gothic"/>
                        </a:defRPr>
                      </a:pPr>
                      <a:r>
                        <a:t>▲ 2.7%p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거북목 Poor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F46E5"/>
                          </a:solidFill>
                          <a:latin typeface="Malgun Gothic"/>
                        </a:defRPr>
                      </a:pPr>
                      <a:r>
                        <a:t>20.4%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EF4444"/>
                          </a:solidFill>
                          <a:latin typeface="Malgun Gothic"/>
                        </a:defRPr>
                      </a:pPr>
                      <a:r>
                        <a:t>▲ 5.0%p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수직선 이탈 Poor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F46E5"/>
                          </a:solidFill>
                          <a:latin typeface="Malgun Gothic"/>
                        </a:defRPr>
                      </a:pPr>
                      <a:r>
                        <a:t>22.4%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EF4444"/>
                          </a:solidFill>
                          <a:latin typeface="Malgun Gothic"/>
                        </a:defRPr>
                      </a:pPr>
                      <a:r>
                        <a:t>▲ 7.1%p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에너지 관리 필요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99.7%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F46E5"/>
                          </a:solidFill>
                          <a:latin typeface="Malgun Gothic"/>
                        </a:defRPr>
                      </a:pPr>
                      <a:r>
                        <a:t>99.4%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  <a:latin typeface="Malgun Gothic"/>
                        </a:defRPr>
                      </a:pPr>
                      <a:r>
                        <a:t>동일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