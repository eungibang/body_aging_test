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645920"/>
            <a:ext cx="16459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점검 결과 보고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B82F6"/>
                </a:solidFill>
                <a:latin typeface="Malgun Gothic"/>
              </a:defRPr>
            </a:pPr>
            <a:r>
              <a:t>CODEMAP AI 점검 데이터 정밀 분석</a:t>
            </a:r>
          </a:p>
          <a:p>
            <a:pPr>
              <a:spcAft>
                <a:spcPts val="8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지점별 코드맵 점검 통계 보고서</a:t>
            </a:r>
          </a:p>
          <a:p>
            <a:pPr>
              <a:spcAft>
                <a:spcPts val="2400"/>
              </a:spcAft>
              <a:defRPr sz="2000" b="0">
                <a:solidFill>
                  <a:srgbClr val="FFFFFF"/>
                </a:solidFill>
                <a:latin typeface="Malgun Gothic"/>
              </a:defRPr>
            </a:pPr>
            <a:r>
              <a:t>중복 제외 실제 점검 인원 기준 분석</a:t>
            </a:r>
          </a:p>
          <a:p>
            <a:pPr>
              <a:spcAft>
                <a:spcPts val="600"/>
              </a:spcAft>
              <a:defRPr sz="1300">
                <a:solidFill>
                  <a:srgbClr val="64748B"/>
                </a:solidFill>
                <a:latin typeface="Malgun Gothic"/>
              </a:defRPr>
            </a:pPr>
            <a:r>
              <a:t>분석 대상: 24개 지역 / 139개 지점 (총 7,938건 점검 / 고유 사용자 7,439명)</a:t>
            </a:r>
          </a:p>
          <a:p>
            <a:pPr>
              <a:defRPr sz="1300">
                <a:solidFill>
                  <a:srgbClr val="64748B"/>
                </a:solidFill>
                <a:latin typeface="Malgun Gothic"/>
              </a:defRPr>
            </a:pPr>
            <a:r>
              <a:t>기준 일자: 2026. 06. 23.  |  데이터 소스: BTC 중앙관리서버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OVERALL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코드맵 점검 현황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📊 누적 점검 통계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고유 인원수</a:t>
            </a:r>
          </a:p>
          <a:p>
            <a:pPr>
              <a:spcAft>
                <a:spcPts val="1200"/>
              </a:spcAft>
              <a:defRPr sz="2400" b="1">
                <a:solidFill>
                  <a:srgbClr val="F59E0B"/>
                </a:solidFill>
                <a:latin typeface="Malgun Gothic"/>
              </a:defRPr>
            </a:pPr>
            <a:r>
              <a:t>7,439 명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7,938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건수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499 건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중복 점검 비율</a:t>
            </a:r>
          </a:p>
          <a:p>
            <a:pPr>
              <a:spcAft>
                <a:spcPts val="1200"/>
              </a:spcAft>
              <a:defRPr sz="1600" b="1">
                <a:solidFill>
                  <a:srgbClr val="1E293B"/>
                </a:solidFill>
                <a:latin typeface="Malgun Gothic"/>
              </a:defRPr>
            </a:pPr>
            <a:r>
              <a:t>6.3%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📍 점검 지점 분포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활성화 지역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22 개 지역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총 설치 지점 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128 개 지점</a:t>
            </a:r>
          </a:p>
          <a:p>
            <a:pPr>
              <a:spcAft>
                <a:spcPts val="2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지점 평균 점검수</a:t>
            </a:r>
          </a:p>
          <a:p>
            <a:pPr>
              <a:spcAft>
                <a:spcPts val="1600"/>
              </a:spcAft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58.1 명 / 지점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64592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500" b="1">
                <a:solidFill>
                  <a:srgbClr val="1F497D"/>
                </a:solidFill>
                <a:latin typeface="Malgun Gothic"/>
              </a:defRPr>
            </a:pPr>
            <a:r>
              <a:t>🏆 최다 점검 지점 TOP 5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1위.  둔촌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서울강남1  |  점검인원: 1487명 (총 1604건)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2위.  공덕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서울강북1  |  점검인원: 188명 (총 209건)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3위.  천천동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174명 (총 181건)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4위.  평택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경기남부3  |  점검인원: 127명 (총 136건)</a:t>
            </a:r>
          </a:p>
          <a:p>
            <a:pPr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5위.  불당 지점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  지역: 충남  |  점검인원: 125명 (총 132건)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REGIONAL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전국 지역별 코드맵 점검 현황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서울강남1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1,675건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1,555명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575건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533명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경북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496건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472명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417명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서울강북2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F59E0B"/>
                          </a:solidFill>
                          <a:latin typeface="Malgun Gothic"/>
                        </a:defRPr>
                      </a:pPr>
                      <a:r>
                        <a:t>383명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401건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380명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광주전남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380건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370명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356명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348명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경기남부2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364건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339명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강원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303명</a:t>
                      </a:r>
                    </a:p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302건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283명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1206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1371600"/>
                <a:gridCol w="1371600"/>
              </a:tblGrid>
              <a:tr h="372793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지역명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총 점검수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점검 인원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277건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245명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경기북부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259건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235명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서울강남2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233건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214명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182건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176명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전북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173명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159건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155명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울산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169건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149명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단무도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131건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충북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125건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125명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대구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E293B"/>
                          </a:solidFill>
                          <a:latin typeface="Malgun Gothic"/>
                        </a:defRPr>
                      </a:pPr>
                      <a:r>
                        <a:t>104건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1F497D"/>
                          </a:solidFill>
                          <a:latin typeface="Malgun Gothic"/>
                        </a:defRPr>
                      </a:pPr>
                      <a:r>
                        <a:t>103명</a:t>
                      </a:r>
                    </a:p>
                  </a:txBody>
                  <a:tcPr/>
                </a:tc>
              </a:tr>
              <a:tr h="372793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372804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서울 및 경기 북부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서울강북1 (417명)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공덕: 188명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광화문: 110명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왕십리: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연신내: 59명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서울강북2 (383명)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상계(93명)         • 구리(76명)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구의(49명)         • 수유(42명)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성북(29명)         • 의정부(28명)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미지정 지점(24명)     • 마들(20명)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창동(15명)         • 공릉(7명)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서울강남1 (1555명)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둔촌: 1487명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잠실: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상계: 21명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서초: 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강남: 1명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서울강남2 (214명)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양천구: 76명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신도림: 42명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이수: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여의도: 32명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강서: 25명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경기 남부 및 인천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경기북부 (235명)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화정: 79명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김포: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파주: 52명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일산: 28명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마두: 23명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경기남부1 (348명)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안양1번가: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과천: 80명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산본: 77명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평촌: 56명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고잔: 32명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경기남부2 (339명)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수지: 109명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서현: 88명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57명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미금: 53명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야탑: 22명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이천: 10명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경기남부3 (380명)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천천동: 174명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평택: 127명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동탄: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영통: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오산: 19명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인천 (176명)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주안(49명)         • 상동(39명)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논현(34명)         • 부평(25명)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검단(11명)         • 미지정 지점(11명)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송도(7명)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강원, 대전 및 충청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강원 (303명)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강릉: 103명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춘천: 101명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원주: 68명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동해: 31명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대전 (155명)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송촌: 60명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월평: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서대전: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둔산: 26명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미지정 지점: 2명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충북 (125명)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율량: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가경: 27명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금천: 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제천: 7명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충남 (356명)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불당: 125명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세종아름: 112명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충무: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아산: 36명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서산: 28명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호남 및 대구·경북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광주전남 (370명)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첨단: 119명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순천: 73명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여수: 67명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동광주: 55명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진월: 51명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서구: 5명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전북 (173명)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인후: 63명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효자: 35명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정읍: 30명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익산: 24명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군산: 21명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대구 (103명)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월배: 31명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방촌: 28명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침산: 25명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시지: 16명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수성: 3명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경북 (472명)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51960"/>
            <a:ext cx="4846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구미(118명)        • 안동(76명)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대이(71명)         • 두호(68명)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상주(42명)         • 경주(36명)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경산(26명)         • 김천(18명)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문경(15명)         • 영주(2명)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B82F6"/>
                </a:solidFill>
                <a:latin typeface="Malgun Gothic"/>
              </a:defRPr>
            </a:pPr>
            <a:r>
              <a:t>DETAILED BRANCH STATS (PART 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293B"/>
                </a:solidFill>
                <a:latin typeface="Malgun Gothic"/>
              </a:defRPr>
            </a:pPr>
            <a:r>
              <a:t>부산·울산·경남 및 기타 권역 세부 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경남 (283명)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마산(50명)         • 거제(46명)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내외(44명)         • 창원(39명)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명곡(38명)         • 진주(37명)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진해(29명)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울산 (149명)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북구: 43명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울산: 40명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대송: 39명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중구: 27명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4630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부산 (533명)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대연(91명)         • 다대(83명)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양정(83명)         • 사직(70명)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금정(46명)         • 온천장(42명)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하단(37명)         • 양산(31명)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영도(22명)         • 기장(16명)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동래(12명)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제주 (245명)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서귀포: 118명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일도: 64명</a:t>
            </a:r>
          </a:p>
          <a:p>
            <a:pPr>
              <a:spcAft>
                <a:spcPts val="200"/>
              </a:spcAft>
              <a:defRPr sz="1000">
                <a:solidFill>
                  <a:srgbClr val="1E293B"/>
                </a:solidFill>
                <a:latin typeface="Malgun Gothic"/>
              </a:defRPr>
            </a:pPr>
            <a:r>
              <a:t>• 노형: 63명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3840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3931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497D"/>
                </a:solidFill>
                <a:latin typeface="Malgun Gothic"/>
              </a:defRPr>
            </a:pPr>
            <a:r>
              <a:t>📍 단무도 (125명)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단무도부천(33명)      • 단무도부산(23명)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단무도일산(20명)      • 단무도평촌(17명)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단무도대구(14명)      • 단무도서울(9명)</a:t>
            </a:r>
          </a:p>
          <a:p>
            <a:pPr>
              <a:spcAft>
                <a:spcPts val="200"/>
              </a:spcAft>
              <a:defRPr sz="950">
                <a:solidFill>
                  <a:srgbClr val="1E293B"/>
                </a:solidFill>
                <a:latin typeface="Malgun Gothic"/>
              </a:defRPr>
            </a:pPr>
            <a:r>
              <a:t>• 단무도창원(9명)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