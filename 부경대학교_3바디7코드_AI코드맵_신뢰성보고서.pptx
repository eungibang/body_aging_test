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1645920"/>
            <a:ext cx="2286000" cy="45720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t>학술 근거 및 신뢰성 검토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286000"/>
            <a:ext cx="10058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3B82F6"/>
                </a:solidFill>
                <a:latin typeface="Malgun Gothic"/>
              </a:defRPr>
            </a:pPr>
            <a:r>
              <a:t>부경대학교 교직원 및 학생 대상 복지·건강 증진 프로그램</a:t>
            </a:r>
          </a:p>
          <a:p>
            <a:pPr>
              <a:spcAft>
                <a:spcPts val="800"/>
              </a:spcAft>
              <a:defRPr sz="3600" b="1">
                <a:solidFill>
                  <a:srgbClr val="FFFFFF"/>
                </a:solidFill>
                <a:latin typeface="Malgun Gothic"/>
              </a:defRPr>
            </a:pPr>
            <a:r>
              <a:t>3바디 7코드 AI 코드맵 학술적 근거 보고서</a:t>
            </a:r>
          </a:p>
          <a:p>
            <a:pPr>
              <a:spcAft>
                <a:spcPts val="2400"/>
              </a:spcAft>
              <a:defRPr sz="1800" b="0">
                <a:solidFill>
                  <a:srgbClr val="FFFFFF"/>
                </a:solidFill>
                <a:latin typeface="Malgun Gothic"/>
              </a:defRPr>
            </a:pPr>
            <a:r>
              <a:t>뇌기반 학습·심신신경면역학 이론 연계 웰니스 진단 시스템의 타당성 및 신뢰성 분석</a:t>
            </a:r>
          </a:p>
          <a:p>
            <a:pPr>
              <a:spcAft>
                <a:spcPts val="600"/>
              </a:spcAft>
              <a:defRPr sz="1300">
                <a:solidFill>
                  <a:srgbClr val="64748B"/>
                </a:solidFill>
                <a:latin typeface="Malgun Gothic"/>
              </a:defRPr>
            </a:pPr>
            <a:r>
              <a:t>공동 연구 개발: 국가공인 브레인트레이너 전문가 단체 · 한국뇌과학연구원 · 글로벌사이버대학교</a:t>
            </a:r>
          </a:p>
          <a:p>
            <a:pPr>
              <a:defRPr sz="1300">
                <a:solidFill>
                  <a:srgbClr val="64748B"/>
                </a:solidFill>
                <a:latin typeface="Malgun Gothic"/>
              </a:defRPr>
            </a:pPr>
            <a:r>
              <a:t>제공 기관: 브레인트레이닝센터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3B82F6"/>
                </a:solidFill>
                <a:latin typeface="Malgun Gothic"/>
              </a:defRPr>
            </a:pPr>
            <a:r>
              <a:t>R&amp;D BACKGROUND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E293B"/>
                </a:solidFill>
                <a:latin typeface="Malgun Gothic"/>
              </a:defRPr>
            </a:pPr>
            <a:r>
              <a:t>3바디 7코드 AI 코드맵의 공동 연구 개발진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29184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29260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500" b="1">
                <a:solidFill>
                  <a:srgbClr val="1B365D"/>
                </a:solidFill>
                <a:latin typeface="Malgun Gothic"/>
              </a:defRPr>
            </a:pPr>
            <a:r>
              <a:t>🏢 한국뇌과학연구원 (KIBS)</a:t>
            </a:r>
          </a:p>
          <a:p>
            <a:pPr>
              <a:spcBef>
                <a:spcPts val="0"/>
              </a:spcBef>
              <a:spcAft>
                <a:spcPts val="800"/>
              </a:spcAft>
              <a:defRPr sz="1100" b="1">
                <a:solidFill>
                  <a:srgbClr val="1E293B"/>
                </a:solidFill>
                <a:latin typeface="Malgun Gothic"/>
              </a:defRPr>
            </a:pPr>
            <a:r>
              <a:t>• 뇌교육 원천기술 연구 개발</a:t>
            </a:r>
          </a:p>
          <a:p>
            <a:pPr>
              <a:spcBef>
                <a:spcPts val="0"/>
              </a:spcBef>
              <a:spcAft>
                <a:spcPts val="1200"/>
              </a:spcAft>
              <a:defRPr sz="1050" b="0">
                <a:solidFill>
                  <a:srgbClr val="64748B"/>
                </a:solidFill>
                <a:latin typeface="Malgun Gothic"/>
              </a:defRPr>
            </a:pPr>
            <a:r>
              <a:t>인간 뇌의 잠재력을 주체적으로 활용하기 위한 기초 연구와 학술적 메커니즘을 제안하는 뇌교육 특화 연구 기관입니다.</a:t>
            </a:r>
          </a:p>
          <a:p>
            <a:pPr>
              <a:spcBef>
                <a:spcPts val="0"/>
              </a:spcBef>
              <a:spcAft>
                <a:spcPts val="800"/>
              </a:spcAft>
              <a:defRPr sz="1100" b="1">
                <a:solidFill>
                  <a:srgbClr val="1E293B"/>
                </a:solidFill>
                <a:latin typeface="Malgun Gothic"/>
              </a:defRPr>
            </a:pPr>
            <a:r>
              <a:t>• 뇌운영시스템 (B.O.S) 제공</a:t>
            </a:r>
          </a:p>
          <a:p>
            <a:pPr>
              <a:spcBef>
                <a:spcPts val="0"/>
              </a:spcBef>
              <a:spcAft>
                <a:spcPts val="800"/>
              </a:spcAft>
              <a:defRPr sz="1050" b="0">
                <a:solidFill>
                  <a:srgbClr val="64748B"/>
                </a:solidFill>
                <a:latin typeface="Malgun Gothic"/>
              </a:defRPr>
            </a:pPr>
            <a:r>
              <a:t>뇌를 스스로 주체적으로 관리하고 조절하는 'B.O.S 5단계' 프레임워크를 제안하여 프로그램의 뇌과학적 훈련 방법론을 뒷받침합니다.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371600"/>
            <a:ext cx="329184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554480"/>
            <a:ext cx="29260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500" b="1">
                <a:solidFill>
                  <a:srgbClr val="1B365D"/>
                </a:solidFill>
                <a:latin typeface="Malgun Gothic"/>
              </a:defRPr>
            </a:pPr>
            <a:r>
              <a:t>🎓 글로벌사이버대학교</a:t>
            </a:r>
          </a:p>
          <a:p>
            <a:pPr>
              <a:spcBef>
                <a:spcPts val="0"/>
              </a:spcBef>
              <a:spcAft>
                <a:spcPts val="800"/>
              </a:spcAft>
              <a:defRPr sz="1100" b="1">
                <a:solidFill>
                  <a:srgbClr val="1E293B"/>
                </a:solidFill>
                <a:latin typeface="Malgun Gothic"/>
              </a:defRPr>
            </a:pPr>
            <a:r>
              <a:t>• 명상치유학 및 뇌교육 연구진</a:t>
            </a:r>
          </a:p>
          <a:p>
            <a:pPr>
              <a:spcBef>
                <a:spcPts val="0"/>
              </a:spcBef>
              <a:spcAft>
                <a:spcPts val="1200"/>
              </a:spcAft>
              <a:defRPr sz="1050" b="0">
                <a:solidFill>
                  <a:srgbClr val="64748B"/>
                </a:solidFill>
                <a:latin typeface="Malgun Gothic"/>
              </a:defRPr>
            </a:pPr>
            <a:r>
              <a:t>명상치유 및 뇌교육 융합 전공 학과 교수진이 프로그램의 교육학적·심리학적 타당성을 검토하고 학문적 융합 웰니스 이론을 접목했습니다.</a:t>
            </a:r>
          </a:p>
          <a:p>
            <a:pPr>
              <a:spcBef>
                <a:spcPts val="0"/>
              </a:spcBef>
              <a:spcAft>
                <a:spcPts val="800"/>
              </a:spcAft>
              <a:defRPr sz="1100" b="1">
                <a:solidFill>
                  <a:srgbClr val="1E293B"/>
                </a:solidFill>
                <a:latin typeface="Malgun Gothic"/>
              </a:defRPr>
            </a:pPr>
            <a:r>
              <a:t>• 뇌기반 교육의 실천적 성과</a:t>
            </a:r>
          </a:p>
          <a:p>
            <a:pPr>
              <a:spcBef>
                <a:spcPts val="0"/>
              </a:spcBef>
              <a:spcAft>
                <a:spcPts val="800"/>
              </a:spcAft>
              <a:defRPr sz="1050" b="0">
                <a:solidFill>
                  <a:srgbClr val="64748B"/>
                </a:solidFill>
                <a:latin typeface="Malgun Gothic"/>
              </a:defRPr>
            </a:pPr>
            <a:r>
              <a:t>현대 교육 및 복지 현장에서 주의집중력, 신체 조절력, 정서 관리를 통합 연계하는 실천적 교육 모델을 제공합니다.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371600"/>
            <a:ext cx="33832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554480"/>
            <a:ext cx="3017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500" b="1">
                <a:solidFill>
                  <a:srgbClr val="1B365D"/>
                </a:solidFill>
                <a:latin typeface="Malgun Gothic"/>
              </a:defRPr>
            </a:pPr>
            <a:r>
              <a:t>🏅 브레인트레이너 협회</a:t>
            </a:r>
          </a:p>
          <a:p>
            <a:pPr>
              <a:spcBef>
                <a:spcPts val="0"/>
              </a:spcBef>
              <a:spcAft>
                <a:spcPts val="800"/>
              </a:spcAft>
              <a:defRPr sz="1100" b="1">
                <a:solidFill>
                  <a:srgbClr val="1E293B"/>
                </a:solidFill>
                <a:latin typeface="Malgun Gothic"/>
              </a:defRPr>
            </a:pPr>
            <a:r>
              <a:t>• 국가공인 두뇌훈련 자격 단체</a:t>
            </a:r>
          </a:p>
          <a:p>
            <a:pPr>
              <a:spcBef>
                <a:spcPts val="0"/>
              </a:spcBef>
              <a:spcAft>
                <a:spcPts val="1200"/>
              </a:spcAft>
              <a:defRPr sz="1050" b="0">
                <a:solidFill>
                  <a:srgbClr val="64748B"/>
                </a:solidFill>
                <a:latin typeface="Malgun Gothic"/>
              </a:defRPr>
            </a:pPr>
            <a:r>
              <a:t>교육부 공인 두뇌 관리 및 훈련 자격을 보유한 현장 트레이너들이 직접 프로그램 실무 설계 및 검사 피드백 구축에 참여했습니다.</a:t>
            </a:r>
          </a:p>
          <a:p>
            <a:pPr>
              <a:spcBef>
                <a:spcPts val="0"/>
              </a:spcBef>
              <a:spcAft>
                <a:spcPts val="800"/>
              </a:spcAft>
              <a:defRPr sz="1100" b="1">
                <a:solidFill>
                  <a:srgbClr val="1E293B"/>
                </a:solidFill>
                <a:latin typeface="Malgun Gothic"/>
              </a:defRPr>
            </a:pPr>
            <a:r>
              <a:t>• 축적된 현장 적용 데이터</a:t>
            </a:r>
          </a:p>
          <a:p>
            <a:pPr>
              <a:spcBef>
                <a:spcPts val="0"/>
              </a:spcBef>
              <a:spcAft>
                <a:spcPts val="800"/>
              </a:spcAft>
              <a:defRPr sz="1050" b="0">
                <a:solidFill>
                  <a:srgbClr val="64748B"/>
                </a:solidFill>
                <a:latin typeface="Malgun Gothic"/>
              </a:defRPr>
            </a:pPr>
            <a:r>
              <a:t>수많은 현장 상담 데이터에 기반해 직관적이고 자발적으로 자세 및 스트레스 상태를 교정할 수 있도록 맞춤형 가이드를 설계했습니다.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3B82F6"/>
                </a:solidFill>
                <a:latin typeface="Malgun Gothic"/>
              </a:defRPr>
            </a:pPr>
            <a:r>
              <a:t>AI TECHNOLOGY &amp; PATENT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E293B"/>
                </a:solidFill>
                <a:latin typeface="Malgun Gothic"/>
              </a:defRPr>
            </a:pPr>
            <a:r>
              <a:t>다차원 AI 정밀 측정 핵심 기술 및 특허출원 신청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0698480" cy="10058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1B365D"/>
                </a:solidFill>
                <a:latin typeface="Malgun Gothic"/>
              </a:defRPr>
            </a:pPr>
            <a:r>
              <a:t>💡 독자적 AI 컴퓨터 비전 기반 건강 측정 엔진 특허출원 신청 진행 중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E293B"/>
                </a:solidFill>
                <a:latin typeface="Malgun Gothic"/>
              </a:defRPr>
            </a:pPr>
            <a:r>
              <a:t>현장 간이 측정의 부정확성을 보장하고 기술 신뢰도를 강화하기 위해, AI 컴퓨터 비전 및 실시간 물리 트래킹 기술에 대해 관련 특허 출원 절차를 밟고 있습니다. 기관 도입 신뢰성을 명확하게 제시합니다.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468880"/>
            <a:ext cx="329184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651760"/>
            <a:ext cx="29260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 b="1">
                <a:solidFill>
                  <a:srgbClr val="1B365D"/>
                </a:solidFill>
                <a:latin typeface="Malgun Gothic"/>
              </a:defRPr>
            </a:pPr>
            <a:r>
              <a:t>🛡️ 실시간 자세 흔들림 감지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100" b="1">
                <a:solidFill>
                  <a:srgbClr val="1E293B"/>
                </a:solidFill>
                <a:latin typeface="Malgun Gothic"/>
              </a:defRPr>
            </a:pPr>
            <a:r>
              <a:t>• 미세 흔들림 추적 (Sway Score)</a:t>
            </a:r>
          </a:p>
          <a:p>
            <a:pPr>
              <a:spcBef>
                <a:spcPts val="0"/>
              </a:spcBef>
              <a:spcAft>
                <a:spcPts val="800"/>
              </a:spcAft>
              <a:defRPr sz="1000" b="0">
                <a:solidFill>
                  <a:srgbClr val="64748B"/>
                </a:solidFill>
                <a:latin typeface="Malgun Gothic"/>
              </a:defRPr>
            </a:pPr>
            <a:r>
              <a:t>코와 어깨 좌표의 실시간 움직임을 정규화하여 밸런스 점수를 수치화하며, 일시적 정지 자세의 왜곡을 방지합니다.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100" b="1">
                <a:solidFill>
                  <a:srgbClr val="1E293B"/>
                </a:solidFill>
                <a:latin typeface="Malgun Gothic"/>
              </a:defRPr>
            </a:pPr>
            <a:r>
              <a:t>• 실시간 발 디딤 (Foot Drop) 센싱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1000" b="0">
                <a:solidFill>
                  <a:srgbClr val="64748B"/>
                </a:solidFill>
                <a:latin typeface="Malgun Gothic"/>
              </a:defRPr>
            </a:pPr>
            <a:r>
              <a:t>양 발목 Y축 좌표의 프레임별 변동을 연산하여, 한발 서기 중 발이 바닥에 닿는 행위를 자동 판별합니다.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2468880"/>
            <a:ext cx="329184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2651760"/>
            <a:ext cx="29260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 b="1">
                <a:solidFill>
                  <a:srgbClr val="1B365D"/>
                </a:solidFill>
                <a:latin typeface="Malgun Gothic"/>
              </a:defRPr>
            </a:pPr>
            <a:r>
              <a:t>⚡ 가속화 및 오클루전 극복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100" b="1">
                <a:solidFill>
                  <a:srgbClr val="1E293B"/>
                </a:solidFill>
                <a:latin typeface="Malgun Gothic"/>
              </a:defRPr>
            </a:pPr>
            <a:r>
              <a:t>• VRAM 메모리 관리 최적화</a:t>
            </a:r>
          </a:p>
          <a:p>
            <a:pPr>
              <a:spcBef>
                <a:spcPts val="0"/>
              </a:spcBef>
              <a:spcAft>
                <a:spcPts val="800"/>
              </a:spcAft>
              <a:defRPr sz="1000" b="0">
                <a:solidFill>
                  <a:srgbClr val="64748B"/>
                </a:solidFill>
                <a:latin typeface="Malgun Gothic"/>
              </a:defRPr>
            </a:pPr>
            <a:r>
              <a:t>웹 환경에서 매 프레임별 WebGL 텍스처를 파기하도록 설계하여, 컴퓨터 메모리 과부하 및 다운 현상을 근본적으로 해결했습니다.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100" b="1">
                <a:solidFill>
                  <a:srgbClr val="1E293B"/>
                </a:solidFill>
                <a:latin typeface="Malgun Gothic"/>
              </a:defRPr>
            </a:pPr>
            <a:r>
              <a:t>• 관절 겹침(Occlusion) 자동 보정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1000" b="0">
                <a:solidFill>
                  <a:srgbClr val="64748B"/>
                </a:solidFill>
                <a:latin typeface="Malgun Gothic"/>
              </a:defRPr>
            </a:pPr>
            <a:r>
              <a:t>측면 스쿼트와 대각선 푸시업 구도에서 가시성이 확보된 최적의 관절 좌표를 선별하여 트래킹 정확도를 높입니다.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2468880"/>
            <a:ext cx="338328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2651760"/>
            <a:ext cx="30175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 b="1">
                <a:solidFill>
                  <a:srgbClr val="1B365D"/>
                </a:solidFill>
                <a:latin typeface="Malgun Gothic"/>
              </a:defRPr>
            </a:pPr>
            <a:r>
              <a:t>📊 신체/체력 나이 역산 알고리즘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100" b="1">
                <a:solidFill>
                  <a:srgbClr val="1E293B"/>
                </a:solidFill>
                <a:latin typeface="Malgun Gothic"/>
              </a:defRPr>
            </a:pPr>
            <a:r>
              <a:t>• 데이터 기반 절대평가 체점</a:t>
            </a:r>
          </a:p>
          <a:p>
            <a:pPr>
              <a:spcBef>
                <a:spcPts val="0"/>
              </a:spcBef>
              <a:spcAft>
                <a:spcPts val="800"/>
              </a:spcAft>
              <a:defRPr sz="1000" b="0">
                <a:solidFill>
                  <a:srgbClr val="64748B"/>
                </a:solidFill>
                <a:latin typeface="Malgun Gothic"/>
              </a:defRPr>
            </a:pPr>
            <a:r>
              <a:t>성별 및 연령대별 평균 달성 표준에 따라 선형 보간 채점하여, AI의 주관적이고 후한 점수 평가 편향(인플레)을 차단합니다.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100" b="1">
                <a:solidFill>
                  <a:srgbClr val="1E293B"/>
                </a:solidFill>
                <a:latin typeface="Malgun Gothic"/>
              </a:defRPr>
            </a:pPr>
            <a:r>
              <a:t>• 다차원 가중치 합산 공식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1000" b="0">
                <a:solidFill>
                  <a:srgbClr val="64748B"/>
                </a:solidFill>
                <a:latin typeface="Malgun Gothic"/>
              </a:defRPr>
            </a:pPr>
            <a:r>
              <a:t>근력, 균형, 자세, 유연성 등 각 테스트 항목별로 적정 가중치 비율을 설정한 후 최종 건강 연령 지표를 도출합니다.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3B82F6"/>
                </a:solidFill>
                <a:latin typeface="Malgun Gothic"/>
              </a:defRPr>
            </a:pPr>
            <a:r>
              <a:t>3BODY SCIENTIFIC 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E293B"/>
                </a:solidFill>
                <a:latin typeface="Malgun Gothic"/>
              </a:defRPr>
            </a:pPr>
            <a:r>
              <a:t>3BODY(몸·마음·뇌) 연계의 현대 의과학적 접점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600" b="1">
                <a:solidFill>
                  <a:srgbClr val="1B365D"/>
                </a:solidFill>
                <a:latin typeface="Malgun Gothic"/>
              </a:defRPr>
            </a:pPr>
            <a:r>
              <a:t>🧠 심신신경면역학(PNI) 및 HPA 축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1200" b="1">
                <a:solidFill>
                  <a:srgbClr val="1E293B"/>
                </a:solidFill>
                <a:latin typeface="Malgun Gothic"/>
              </a:defRPr>
            </a:pPr>
            <a:r>
              <a:t>• 마음과 몸의 쌍방향적 상호작용 지지</a:t>
            </a:r>
          </a:p>
          <a:p>
            <a:pPr>
              <a:spcBef>
                <a:spcPts val="0"/>
              </a:spcBef>
              <a:spcAft>
                <a:spcPts val="1200"/>
              </a:spcAft>
              <a:defRPr sz="1100" b="0">
                <a:solidFill>
                  <a:srgbClr val="64748B"/>
                </a:solidFill>
                <a:latin typeface="Malgun Gothic"/>
              </a:defRPr>
            </a:pPr>
            <a:r>
              <a:t>스트레스, 불안 등의 심리적 상태는 시상하부-뇌하수체-부신 축(HPA Axis)을 자극하고 코르티솔 분비를 유도하여 신체에 직접적인 피드백을 전달할 수 있습니다.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1200" b="1">
                <a:solidFill>
                  <a:srgbClr val="1E293B"/>
                </a:solidFill>
                <a:latin typeface="Malgun Gothic"/>
              </a:defRPr>
            </a:pPr>
            <a:r>
              <a:t>• 신체 피로와 인지 저하의 양방향 연관성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1100" b="0">
                <a:solidFill>
                  <a:srgbClr val="64748B"/>
                </a:solidFill>
                <a:latin typeface="Malgun Gothic"/>
              </a:defRPr>
            </a:pPr>
            <a:r>
              <a:t>신체 내부의 염증 물질(사이토카인 등)이 미주신경 등을 거쳐 뇌에 전달됨으로써 기분 저하, 무기력감, 주의집중력의 변화(Sickness Behavior)를 일으키는 접점을 설명합니다.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371600"/>
            <a:ext cx="512064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55448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600" b="1">
                <a:solidFill>
                  <a:srgbClr val="1B365D"/>
                </a:solidFill>
                <a:latin typeface="Malgun Gothic"/>
              </a:defRPr>
            </a:pPr>
            <a:r>
              <a:t>🔬 워싱턴 대학교 SCAN 연구 (Nature, 2023)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1200" b="1">
                <a:solidFill>
                  <a:srgbClr val="1E293B"/>
                </a:solidFill>
                <a:latin typeface="Malgun Gothic"/>
              </a:defRPr>
            </a:pPr>
            <a:r>
              <a:t>• SCAN(Somato-Cognitive Action Network) 보고</a:t>
            </a:r>
          </a:p>
          <a:p>
            <a:pPr>
              <a:spcBef>
                <a:spcPts val="0"/>
              </a:spcBef>
              <a:spcAft>
                <a:spcPts val="1200"/>
              </a:spcAft>
              <a:defRPr sz="1100" b="0">
                <a:solidFill>
                  <a:srgbClr val="64748B"/>
                </a:solidFill>
                <a:latin typeface="Malgun Gothic"/>
              </a:defRPr>
            </a:pPr>
            <a:r>
              <a:t>Nature 및 후속 연구에 따르면, 대뇌 1차 운동 피질 내부에 신체 움직임, 목표 지향 행동, 생리 상태(혈압 등)를 통합하는 기능적 네트워크의 존재가 보고되었습니다.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1200" b="1">
                <a:solidFill>
                  <a:srgbClr val="1E293B"/>
                </a:solidFill>
                <a:latin typeface="Malgun Gothic"/>
              </a:defRPr>
            </a:pPr>
            <a:r>
              <a:t>• 3BODY 통합의 신경학적 참고 근거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1100" b="0">
                <a:solidFill>
                  <a:srgbClr val="64748B"/>
                </a:solidFill>
                <a:latin typeface="Malgun Gothic"/>
              </a:defRPr>
            </a:pPr>
            <a:r>
              <a:t>이러한 SCAN의 구조는 몸의 움직임과 인지·생리 기능이 긴밀히 연관되어 있음을 시사하며, 몸·마음·뇌를 통합적으로 다루는 3BODY 접근의 접점을 뒷받침하는 우수한 과학적 참고 모델입니다.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3B82F6"/>
                </a:solidFill>
                <a:latin typeface="Malgun Gothic"/>
              </a:defRPr>
            </a:pPr>
            <a:r>
              <a:t>7CODE INTEGRATED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E293B"/>
                </a:solidFill>
                <a:latin typeface="Malgun Gothic"/>
              </a:defRPr>
            </a:pPr>
            <a:r>
              <a:t>7CODE 에너지 시스템의 자율신경총 및 내분비선 해석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64748B"/>
                </a:solidFill>
                <a:latin typeface="Malgun Gothic"/>
              </a:defRPr>
            </a:pPr>
            <a:r>
              <a:t>7CODE 시스템은 전통적인 7개 에너지 센터(차크라) 개념을 현대 해부생리학의 주요 자율신경총 및 내분비선과 비교·해석한 설명 모델입니다.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828800"/>
          <a:ext cx="1106424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103120"/>
                <a:gridCol w="2011680"/>
                <a:gridCol w="4389120"/>
                <a:gridCol w="914400"/>
              </a:tblGrid>
              <a:tr h="53721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코드 구분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대응 자율신경총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대응 내분비선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주요 기능 (생리적/심리적)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학술설명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B365D"/>
                          </a:solidFill>
                          <a:latin typeface="Malgun Gothic"/>
                        </a:defRPr>
                      </a:pPr>
                      <a:r>
                        <a:t>1CODE (기초/생존)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골반 신경총 (Pelvic Plexus)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부신 (Adrenal Gland)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스트레스 호르몬 조절, 투쟁-도피 반응, 기초 체력 및 안정감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생리학적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B365D"/>
                          </a:solidFill>
                          <a:latin typeface="Malgun Gothic"/>
                        </a:defRPr>
                      </a:pPr>
                      <a:r>
                        <a:t>2CODE (감정/관계)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하복부/요천추 신경총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생식선 (Ovaries/Testes)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체액 및 에너지 순환, 감정 흐름, 수용력 및 창조력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상관성을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B365D"/>
                          </a:solidFill>
                          <a:latin typeface="Malgun Gothic"/>
                        </a:defRPr>
                      </a:pPr>
                      <a:r>
                        <a:t>3CODE (의욕/추진)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복강/태양신경총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췌장 (Pancreas)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소화 및 대사 작용, 자율신경 조절, 자존감 및 통제력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이해하기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B365D"/>
                          </a:solidFill>
                          <a:latin typeface="Malgun Gothic"/>
                        </a:defRPr>
                      </a:pPr>
                      <a:r>
                        <a:t>4CODE (사랑/안정)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심장 신경총 (Cardiac Plexus)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흉선 (Thymus Gland)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면역계 조절 도움, 심박수 조절, 정서적 안정 및 회복력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위한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B365D"/>
                          </a:solidFill>
                          <a:latin typeface="Malgun Gothic"/>
                        </a:defRPr>
                      </a:pPr>
                      <a:r>
                        <a:t>5CODE (소통/표현)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경부/인두 신경총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갑상선 (Thyroid Gland)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신진대사 조절, 언어 표현 및 소통, 목/어깨 근육 이완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통합적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B365D"/>
                          </a:solidFill>
                          <a:latin typeface="Malgun Gothic"/>
                        </a:defRPr>
                      </a:pPr>
                      <a:r>
                        <a:t>6CODE (집중/통찰)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두개강 내 신경망 (송과체 주변)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뇌하수체 (Pituitary Gland)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멜라토닌(수면 주기) 및 전체 호르몬 통제, 직관, 집중력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참고적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B365D"/>
                          </a:solidFill>
                          <a:latin typeface="Malgun Gothic"/>
                        </a:defRPr>
                      </a:pPr>
                      <a:r>
                        <a:t>7CODE (방향/의미)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대뇌피질 및 중추신경계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송과체 (Pineal Gland)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고위 인지 기능 조절, 삶의 의미 및 정체성 방향성 수립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설명 모델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3B82F6"/>
                </a:solidFill>
                <a:latin typeface="Malgun Gothic"/>
              </a:defRPr>
            </a:pPr>
            <a:r>
              <a:t>HABIT FORMATION &amp; NEUROPLASTICITY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E293B"/>
                </a:solidFill>
                <a:latin typeface="Malgun Gothic"/>
              </a:defRPr>
            </a:pPr>
            <a:r>
              <a:t>21일 · 66일 · 100일 습관 형성의 뇌과학적 원리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29184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29260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500" b="1">
                <a:solidFill>
                  <a:srgbClr val="3B82F6"/>
                </a:solidFill>
                <a:latin typeface="Malgun Gothic"/>
              </a:defRPr>
            </a:pPr>
            <a:r>
              <a:t>🌱 21일 적응기 (Adaptation)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1100" b="1">
                <a:solidFill>
                  <a:srgbClr val="1E293B"/>
                </a:solidFill>
                <a:latin typeface="Malgun Gothic"/>
              </a:defRPr>
            </a:pPr>
            <a:r>
              <a:t>• 뇌의 새로운 자극 적응 단계</a:t>
            </a:r>
          </a:p>
          <a:p>
            <a:pPr>
              <a:spcBef>
                <a:spcPts val="0"/>
              </a:spcBef>
              <a:spcAft>
                <a:spcPts val="1200"/>
              </a:spcAft>
              <a:defRPr sz="1050" b="0">
                <a:solidFill>
                  <a:srgbClr val="64748B"/>
                </a:solidFill>
                <a:latin typeface="Malgun Gothic"/>
              </a:defRPr>
            </a:pPr>
            <a:r>
              <a:t>맥스웰 몰츠 박사의 저술에서 유래한 ‘21일 법칙’은 뇌가 낯선 행동이나 자아 이미지를 저항 없이 수용하기 시작하는 최소한의 적응 기간을 의미합니다. (경험적 통찰의 참고치)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1100" b="1">
                <a:solidFill>
                  <a:srgbClr val="1E293B"/>
                </a:solidFill>
                <a:latin typeface="Malgun Gothic"/>
              </a:defRPr>
            </a:pPr>
            <a:r>
              <a:t>• 뇌세포 화학 신호의 초기 점화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1050" b="0">
                <a:solidFill>
                  <a:srgbClr val="64748B"/>
                </a:solidFill>
                <a:latin typeface="Malgun Gothic"/>
              </a:defRPr>
            </a:pPr>
            <a:r>
              <a:t>명상과 에너지 조절 훈련에 대한 초기 신경 경로의 생화학적 반응을 활성화시키는 진입 프로그램 설계 기준입니다.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371600"/>
            <a:ext cx="329184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554480"/>
            <a:ext cx="29260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500" b="1">
                <a:solidFill>
                  <a:srgbClr val="1B365D"/>
                </a:solidFill>
                <a:latin typeface="Malgun Gothic"/>
              </a:defRPr>
            </a:pPr>
            <a:r>
              <a:t>🌿 66일 자동화기 (Automaticity)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1100" b="1">
                <a:solidFill>
                  <a:srgbClr val="1E293B"/>
                </a:solidFill>
                <a:latin typeface="Malgun Gothic"/>
              </a:defRPr>
            </a:pPr>
            <a:r>
              <a:t>• UCL 필리파 랠리 교수팀 연구</a:t>
            </a:r>
          </a:p>
          <a:p>
            <a:pPr>
              <a:spcBef>
                <a:spcPts val="0"/>
              </a:spcBef>
              <a:spcAft>
                <a:spcPts val="1200"/>
              </a:spcAft>
              <a:defRPr sz="1050" b="0">
                <a:solidFill>
                  <a:srgbClr val="64748B"/>
                </a:solidFill>
                <a:latin typeface="Malgun Gothic"/>
              </a:defRPr>
            </a:pPr>
            <a:r>
              <a:t>새로운 행동이 의식적 노력 없이 자동화(Automaticity)되는 데 평균 66일이 걸린다고 보고했습니다. (개인/난이도별 18~254일 소요 편차 존재)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1100" b="1">
                <a:solidFill>
                  <a:srgbClr val="1E293B"/>
                </a:solidFill>
                <a:latin typeface="Malgun Gothic"/>
              </a:defRPr>
            </a:pPr>
            <a:r>
              <a:t>• 안정적 항상성 형성 구간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1050" b="0">
                <a:solidFill>
                  <a:srgbClr val="64748B"/>
                </a:solidFill>
                <a:latin typeface="Malgun Gothic"/>
              </a:defRPr>
            </a:pPr>
            <a:r>
              <a:t>훈련을 무의식적 일상 루틴으로 정착시켜, 좋아졌다 무너지는 일시적 적응의 한계를 넘는 전략적 기간으로 활용합니다.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371600"/>
            <a:ext cx="33832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554480"/>
            <a:ext cx="3017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500" b="1">
                <a:solidFill>
                  <a:srgbClr val="F59E0B"/>
                </a:solidFill>
                <a:latin typeface="Malgun Gothic"/>
              </a:defRPr>
            </a:pPr>
            <a:r>
              <a:t>🌳 100일 뇌 재배선 (Myelination)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1100" b="1">
                <a:solidFill>
                  <a:srgbClr val="1E293B"/>
                </a:solidFill>
                <a:latin typeface="Malgun Gothic"/>
              </a:defRPr>
            </a:pPr>
            <a:r>
              <a:t>• 신경가소성 및 수초화 원리 참고</a:t>
            </a:r>
          </a:p>
          <a:p>
            <a:pPr>
              <a:spcBef>
                <a:spcPts val="0"/>
              </a:spcBef>
              <a:spcAft>
                <a:spcPts val="1200"/>
              </a:spcAft>
              <a:defRPr sz="1050" b="0">
                <a:solidFill>
                  <a:srgbClr val="64748B"/>
                </a:solidFill>
                <a:latin typeface="Malgun Gothic"/>
              </a:defRPr>
            </a:pPr>
            <a:r>
              <a:t>반복적인 자극은 신경의 정보 처리 속도를 가속하는 축삭 수초화(Myelination)를 유도하여 신경 연결을 강화하는 데 기여합니다.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1100" b="1">
                <a:solidFill>
                  <a:srgbClr val="1E293B"/>
                </a:solidFill>
                <a:latin typeface="Malgun Gothic"/>
              </a:defRPr>
            </a:pPr>
            <a:r>
              <a:t>• 100일의 실천적 목표 설계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1050" b="0">
                <a:solidFill>
                  <a:srgbClr val="64748B"/>
                </a:solidFill>
                <a:latin typeface="Malgun Gothic"/>
              </a:defRPr>
            </a:pPr>
            <a:r>
              <a:t>뉴런 결속을 유도하는 헤브의 법칙(Hebbian learning)을 반영하여, 삶의 근본적인 인지 필터와 태도를 리모델링하는 실천적 기간입니다.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3B82F6"/>
                </a:solidFill>
                <a:latin typeface="Malgun Gothic"/>
              </a:defRPr>
            </a:pPr>
            <a:r>
              <a:t>EDUCATIONAL &amp; BRAIN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E293B"/>
                </a:solidFill>
                <a:latin typeface="Malgun Gothic"/>
              </a:defRPr>
            </a:pPr>
            <a:r>
              <a:t>뇌기반 명상(BEM) 프로그램의 인지·학습 및 뇌기능 연구 성과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600" b="1">
                <a:solidFill>
                  <a:srgbClr val="1B365D"/>
                </a:solidFill>
                <a:latin typeface="Malgun Gothic"/>
              </a:defRPr>
            </a:pPr>
            <a:r>
              <a:t>🎓 자기주도학습력 및 인지 조절 향상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1200" b="1">
                <a:solidFill>
                  <a:srgbClr val="1E293B"/>
                </a:solidFill>
                <a:latin typeface="Malgun Gothic"/>
              </a:defRPr>
            </a:pPr>
            <a:r>
              <a:t>• 국내 뇌교육 프로그램 아동/청소년 연구</a:t>
            </a:r>
          </a:p>
          <a:p>
            <a:pPr>
              <a:spcBef>
                <a:spcPts val="0"/>
              </a:spcBef>
              <a:spcAft>
                <a:spcPts val="1200"/>
              </a:spcAft>
              <a:defRPr sz="1100" b="0">
                <a:solidFill>
                  <a:srgbClr val="64748B"/>
                </a:solidFill>
                <a:latin typeface="Malgun Gothic"/>
              </a:defRPr>
            </a:pPr>
            <a:r>
              <a:t>중학생 등을 대상으로 8주간의 뇌교육 프로그램을 진행한 결과, 인지 및 감정조절을 바탕으로 한 '자기주도학습능력'이 유의하게 증가된 성과가 보고되었습니다.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1200" b="1">
                <a:solidFill>
                  <a:srgbClr val="1E293B"/>
                </a:solidFill>
                <a:latin typeface="Malgun Gothic"/>
              </a:defRPr>
            </a:pPr>
            <a:r>
              <a:t>• 뇌기반 교육의 실천적 타당성 확보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1100" b="0">
                <a:solidFill>
                  <a:srgbClr val="64748B"/>
                </a:solidFill>
                <a:latin typeface="Malgun Gothic"/>
              </a:defRPr>
            </a:pPr>
            <a:r>
              <a:t>신경과학, 인지심리, 교육심리학 등의 연구 성과를 현장에 연결하여 학습자의 메타인지와 자기 조절력을 키우는 실천 모델로 입증되었습니다.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371600"/>
            <a:ext cx="512064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55448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600" b="1">
                <a:solidFill>
                  <a:srgbClr val="1B365D"/>
                </a:solidFill>
                <a:latin typeface="Malgun Gothic"/>
              </a:defRPr>
            </a:pPr>
            <a:r>
              <a:t>🧠 생리학적 지표 및 뇌 기능 활성화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1200" b="1">
                <a:solidFill>
                  <a:srgbClr val="1E293B"/>
                </a:solidFill>
                <a:latin typeface="Malgun Gothic"/>
              </a:defRPr>
            </a:pPr>
            <a:r>
              <a:t>• 뇌교육 기반 명상 연구 리포트 종합</a:t>
            </a:r>
          </a:p>
          <a:p>
            <a:pPr>
              <a:spcBef>
                <a:spcPts val="0"/>
              </a:spcBef>
              <a:spcAft>
                <a:spcPts val="1200"/>
              </a:spcAft>
              <a:defRPr sz="1100" b="0">
                <a:solidFill>
                  <a:srgbClr val="64748B"/>
                </a:solidFill>
                <a:latin typeface="Malgun Gothic"/>
              </a:defRPr>
            </a:pPr>
            <a:r>
              <a:t>한국식 명상 관련 학술 연구들을 분석한 자료에 의하면, 수련 전후 스트레스 척도 완화, 긍정적 정서의 유의미한 향상이 지속적으로 보고되었습니다.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1200" b="1">
                <a:solidFill>
                  <a:srgbClr val="1E293B"/>
                </a:solidFill>
                <a:latin typeface="Malgun Gothic"/>
              </a:defRPr>
            </a:pPr>
            <a:r>
              <a:t>• 도파민 및 디폴트 모드 네트워크 변화</a:t>
            </a:r>
          </a:p>
          <a:p>
            <a:pPr>
              <a:spcBef>
                <a:spcPts val="0"/>
              </a:spcBef>
              <a:spcAft>
                <a:spcPts val="1000"/>
              </a:spcAft>
              <a:defRPr sz="1100" b="0">
                <a:solidFill>
                  <a:srgbClr val="64748B"/>
                </a:solidFill>
                <a:latin typeface="Malgun Gothic"/>
              </a:defRPr>
            </a:pPr>
            <a:r>
              <a:t>혈장 내 도파민 활성화와 뇌 디폴트 모드 네트워크(DMN)의 기능적 연결성 변화 등, 생리 및 뇌 신호 조절을 시사하는 유의미한 축적형 데이터가 축적되어 있습니다.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64748B"/>
                </a:solidFill>
                <a:latin typeface="Malgun Gothic"/>
              </a:defRPr>
            </a:pPr>
            <a:r>
              <a:t>※ 만성 대사 및 특정 염증 유전자 발현 지표 등의 수치 데이터는 내부 예비 연구 결과로서, 대외 제출용 공식 보고서 작성 시에는 연구 설계를 병기합니다.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3B82F6"/>
                </a:solidFill>
                <a:latin typeface="Malgun Gothic"/>
              </a:defRPr>
            </a:pPr>
            <a:r>
              <a:t>REFERENCES &amp; TRACK RECORD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E293B"/>
                </a:solidFill>
                <a:latin typeface="Malgun Gothic"/>
              </a:defRPr>
            </a:pPr>
            <a:r>
              <a:t>대규모 점검 성과 및 신뢰도 검증 레퍼런스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411480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3749039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1600" b="1">
                <a:solidFill>
                  <a:srgbClr val="1B365D"/>
                </a:solidFill>
                <a:latin typeface="Malgun Gothic"/>
              </a:defRPr>
            </a:pPr>
            <a:r>
              <a:t>🚀 단기 대규모 측정 성과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200" b="1">
                <a:solidFill>
                  <a:srgbClr val="64748B"/>
                </a:solidFill>
                <a:latin typeface="Malgun Gothic"/>
              </a:defRPr>
            </a:pPr>
            <a:r>
              <a:t>출시 2달 미만 누적 측정자</a:t>
            </a:r>
          </a:p>
          <a:p>
            <a:pPr>
              <a:spcBef>
                <a:spcPts val="0"/>
              </a:spcBef>
              <a:spcAft>
                <a:spcPts val="1600"/>
              </a:spcAft>
              <a:defRPr sz="3200" b="1">
                <a:solidFill>
                  <a:srgbClr val="F59E0B"/>
                </a:solidFill>
                <a:latin typeface="Malgun Gothic"/>
              </a:defRPr>
            </a:pPr>
            <a:r>
              <a:t>8,000명 돌파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1100" b="0">
                <a:solidFill>
                  <a:srgbClr val="1E293B"/>
                </a:solidFill>
                <a:latin typeface="Malgun Gothic"/>
              </a:defRPr>
            </a:pPr>
            <a:r>
              <a:t>“단 2개월 만에 8,000명 이상의 고유 점검 데이터를 안정적으로 누적했습니다. 이는 하드웨어 리소스 최적화 및 2D 컴퓨터 비전 실시간 연산 안전성이 실전 현장에서 완벽하게 검증되었음을 대변합니다.”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20640" y="1371600"/>
            <a:ext cx="630936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0" y="1554480"/>
            <a:ext cx="59436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600" b="1">
                <a:solidFill>
                  <a:srgbClr val="1B365D"/>
                </a:solidFill>
                <a:latin typeface="Malgun Gothic"/>
              </a:defRPr>
            </a:pPr>
            <a:r>
              <a:t>🏢 관공서 및 대기업·단체 도입 레퍼런스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1200" b="1">
                <a:solidFill>
                  <a:srgbClr val="1E293B"/>
                </a:solidFill>
                <a:latin typeface="Malgun Gothic"/>
              </a:defRPr>
            </a:pPr>
            <a:r>
              <a:t>• 주요 지자체 복지 사업 지원</a:t>
            </a:r>
          </a:p>
          <a:p>
            <a:pPr>
              <a:spcBef>
                <a:spcPts val="0"/>
              </a:spcBef>
              <a:spcAft>
                <a:spcPts val="1200"/>
              </a:spcAft>
              <a:defRPr sz="1100" b="0">
                <a:solidFill>
                  <a:srgbClr val="64748B"/>
                </a:solidFill>
                <a:latin typeface="Malgun Gothic"/>
              </a:defRPr>
            </a:pPr>
            <a:r>
              <a:t>춘천시청, 포항시청, 춘천교육청, 천안시 행복키움단 등 시청 및 교육 기관 산하 건강/복지 프로그램으로 도입 및 운영되었습니다.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1200" b="1">
                <a:solidFill>
                  <a:srgbClr val="1E293B"/>
                </a:solidFill>
                <a:latin typeface="Malgun Gothic"/>
              </a:defRPr>
            </a:pPr>
            <a:r>
              <a:t>• 전문 의료진 및 체육·공익 단체</a:t>
            </a:r>
          </a:p>
          <a:p>
            <a:pPr>
              <a:spcBef>
                <a:spcPts val="0"/>
              </a:spcBef>
              <a:spcAft>
                <a:spcPts val="1200"/>
              </a:spcAft>
              <a:defRPr sz="1100" b="0">
                <a:solidFill>
                  <a:srgbClr val="64748B"/>
                </a:solidFill>
                <a:latin typeface="Malgun Gothic"/>
              </a:defRPr>
            </a:pPr>
            <a:r>
              <a:t>서울약사협회, 대구약사협회, 경북약사협회, 평택체육회, 안동노인회 등 높은 객관성이 요구되는 약사 및 보건 체육 단체 회원들을 대상으로 성공적인 단체 건강 지표 수립 검사를 실행했습니다.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1200" b="1">
                <a:solidFill>
                  <a:srgbClr val="1E293B"/>
                </a:solidFill>
                <a:latin typeface="Malgun Gothic"/>
              </a:defRPr>
            </a:pPr>
            <a:r>
              <a:t>• 대기업 복지 연계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1100" b="0">
                <a:solidFill>
                  <a:srgbClr val="64748B"/>
                </a:solidFill>
                <a:latin typeface="Malgun Gothic"/>
              </a:defRPr>
            </a:pPr>
            <a:r>
              <a:t>IT 기업인 카카오(Kakao) 등 소속 임직원의 멘탈 웰니스 측정 및 직장인 증후군 자가 예방 지원 툴로써 AI 코드맵 점검이 널리 기여하고 있습니다.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