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645920"/>
            <a:ext cx="1645920" cy="4572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점검 결과 보고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3B82F6"/>
                </a:solidFill>
                <a:latin typeface="Malgun Gothic"/>
              </a:defRPr>
            </a:pPr>
            <a:r>
              <a:t>CODEMAP AI 점검 데이터 정밀 분석</a:t>
            </a:r>
          </a:p>
          <a:p>
            <a:pPr>
              <a:spcAft>
                <a:spcPts val="800"/>
              </a:spcAft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지점별 코드맵 점검 통계 보고서</a:t>
            </a:r>
          </a:p>
          <a:p>
            <a:pPr>
              <a:spcAft>
                <a:spcPts val="2400"/>
              </a:spcAft>
              <a:defRPr sz="2000" b="0">
                <a:solidFill>
                  <a:srgbClr val="FFFFFF"/>
                </a:solidFill>
                <a:latin typeface="Malgun Gothic"/>
              </a:defRPr>
            </a:pPr>
            <a:r>
              <a:t>중복 제외 실제 점검 인원 기준 분석</a:t>
            </a:r>
          </a:p>
          <a:p>
            <a:pPr>
              <a:spcAft>
                <a:spcPts val="600"/>
              </a:spcAft>
              <a:defRPr sz="1300">
                <a:solidFill>
                  <a:srgbClr val="64748B"/>
                </a:solidFill>
                <a:latin typeface="Malgun Gothic"/>
              </a:defRPr>
            </a:pPr>
            <a:r>
              <a:t>분석 대상: 24개 지역 / 139개 지점 (총 4,793건 점검 / 고유 사용자 4,464명)</a:t>
            </a:r>
          </a:p>
          <a:p>
            <a:pPr>
              <a:defRPr sz="1300">
                <a:solidFill>
                  <a:srgbClr val="64748B"/>
                </a:solidFill>
                <a:latin typeface="Malgun Gothic"/>
              </a:defRPr>
            </a:pPr>
            <a:r>
              <a:t>기준 일자: 2026. 06. 23.  |  데이터 소스: BTC 중앙관리서버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Malgun Gothic"/>
              </a:defRPr>
            </a:pPr>
            <a:r>
              <a:t>OVERALL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Malgun Gothic"/>
              </a:defRPr>
            </a:pPr>
            <a:r>
              <a:t>전국 코드맵 점검 현황 요약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 b="1">
                <a:solidFill>
                  <a:srgbClr val="1F497D"/>
                </a:solidFill>
                <a:latin typeface="Malgun Gothic"/>
              </a:defRPr>
            </a:pPr>
            <a:r>
              <a:t>📊 누적 점검 통계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총 고유 인원수</a:t>
            </a:r>
          </a:p>
          <a:p>
            <a:pPr>
              <a:spcAft>
                <a:spcPts val="1200"/>
              </a:spcAft>
              <a:defRPr sz="2400" b="1">
                <a:solidFill>
                  <a:srgbClr val="F59E0B"/>
                </a:solidFill>
                <a:latin typeface="Malgun Gothic"/>
              </a:defRPr>
            </a:pPr>
            <a:r>
              <a:t>4,464 명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총 점검 건수</a:t>
            </a:r>
          </a:p>
          <a:p>
            <a:pPr>
              <a:spcAft>
                <a:spcPts val="1200"/>
              </a:spcAft>
              <a:defRPr sz="1600" b="1">
                <a:solidFill>
                  <a:srgbClr val="1E293B"/>
                </a:solidFill>
                <a:latin typeface="Malgun Gothic"/>
              </a:defRPr>
            </a:pPr>
            <a:r>
              <a:t>4,793 건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중복 점검 건수</a:t>
            </a:r>
          </a:p>
          <a:p>
            <a:pPr>
              <a:spcAft>
                <a:spcPts val="1200"/>
              </a:spcAft>
              <a:defRPr sz="1600" b="1">
                <a:solidFill>
                  <a:srgbClr val="1E293B"/>
                </a:solidFill>
                <a:latin typeface="Malgun Gothic"/>
              </a:defRPr>
            </a:pPr>
            <a:r>
              <a:t>329 건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중복 점검 비율</a:t>
            </a:r>
          </a:p>
          <a:p>
            <a:pPr>
              <a:spcAft>
                <a:spcPts val="1200"/>
              </a:spcAft>
              <a:defRPr sz="1600" b="1">
                <a:solidFill>
                  <a:srgbClr val="1E293B"/>
                </a:solidFill>
                <a:latin typeface="Malgun Gothic"/>
              </a:defRPr>
            </a:pPr>
            <a:r>
              <a:t>6.9%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64592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 b="1">
                <a:solidFill>
                  <a:srgbClr val="1F497D"/>
                </a:solidFill>
                <a:latin typeface="Malgun Gothic"/>
              </a:defRPr>
            </a:pPr>
            <a:r>
              <a:t>📍 점검 지점 분포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활성화 지역 수</a:t>
            </a:r>
          </a:p>
          <a:p>
            <a:pPr>
              <a:spcAft>
                <a:spcPts val="1600"/>
              </a:spcAft>
              <a:defRPr sz="2000" b="1">
                <a:solidFill>
                  <a:srgbClr val="1E293B"/>
                </a:solidFill>
                <a:latin typeface="Malgun Gothic"/>
              </a:defRPr>
            </a:pPr>
            <a:r>
              <a:t>24 개 지역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총 설치 지점 수</a:t>
            </a:r>
          </a:p>
          <a:p>
            <a:pPr>
              <a:spcAft>
                <a:spcPts val="1600"/>
              </a:spcAft>
              <a:defRPr sz="2000" b="1">
                <a:solidFill>
                  <a:srgbClr val="1E293B"/>
                </a:solidFill>
                <a:latin typeface="Malgun Gothic"/>
              </a:defRPr>
            </a:pPr>
            <a:r>
              <a:t>135 개 지점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지점 평균 점검수</a:t>
            </a:r>
          </a:p>
          <a:p>
            <a:pPr>
              <a:spcAft>
                <a:spcPts val="1600"/>
              </a:spcAft>
              <a:defRPr sz="2000" b="1">
                <a:solidFill>
                  <a:srgbClr val="1E293B"/>
                </a:solidFill>
                <a:latin typeface="Malgun Gothic"/>
              </a:defRPr>
            </a:pPr>
            <a:r>
              <a:t>33.1 명 / 지점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500" b="1">
                <a:solidFill>
                  <a:srgbClr val="1F497D"/>
                </a:solidFill>
                <a:latin typeface="Malgun Gothic"/>
              </a:defRPr>
            </a:pPr>
            <a:r>
              <a:t>🏆 최다 점검 지점 TOP 5</a:t>
            </a:r>
          </a:p>
          <a:p>
            <a:pPr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1위.  천천동 지점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  지역: 경기남부3  |  점검인원: 190명 (총 198건)</a:t>
            </a:r>
          </a:p>
          <a:p>
            <a:pPr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2위.  첨단 지점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  지역: 광주전남  |  점검인원: 137명 (총 139건)</a:t>
            </a:r>
          </a:p>
          <a:p>
            <a:pPr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3위.  화정 지점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  지역: 경기북부  |  점검인원: 104명 (총 111건)</a:t>
            </a:r>
          </a:p>
          <a:p>
            <a:pPr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4위.  둔촌 지점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  지역: 서울강남1  |  점검인원: 103명 (총 119건)</a:t>
            </a:r>
          </a:p>
          <a:p>
            <a:pPr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5위.  안동 지점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  지역: 경북  |  점검인원: 102명 (총 104건)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Malgun Gothic"/>
              </a:defRPr>
            </a:pPr>
            <a:r>
              <a:t>REGIONAL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Malgun Gothic"/>
              </a:defRPr>
            </a:pPr>
            <a:r>
              <a:t>전국 지역별 코드맵 점검 현황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51206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645920"/>
                <a:gridCol w="1371600"/>
                <a:gridCol w="1371600"/>
              </a:tblGrid>
              <a:tr h="372793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순위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지역명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총 점검수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점검 인원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경북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430건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59E0B"/>
                          </a:solidFill>
                          <a:latin typeface="Malgun Gothic"/>
                        </a:defRPr>
                      </a:pPr>
                      <a:r>
                        <a:t>409명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부산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385건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59E0B"/>
                          </a:solidFill>
                          <a:latin typeface="Malgun Gothic"/>
                        </a:defRPr>
                      </a:pPr>
                      <a:r>
                        <a:t>362명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광주전남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278건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59E0B"/>
                          </a:solidFill>
                          <a:latin typeface="Malgun Gothic"/>
                        </a:defRPr>
                      </a:pPr>
                      <a:r>
                        <a:t>272명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경기남부3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284건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59E0B"/>
                          </a:solidFill>
                          <a:latin typeface="Malgun Gothic"/>
                        </a:defRPr>
                      </a:pPr>
                      <a:r>
                        <a:t>268명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서울강북2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261건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59E0B"/>
                          </a:solidFill>
                          <a:latin typeface="Malgun Gothic"/>
                        </a:defRPr>
                      </a:pPr>
                      <a:r>
                        <a:t>245명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경기남부1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248건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234명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경기남부2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221건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204명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대구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212건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204명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서울강북1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234건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202명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충남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221건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201명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강원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182건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178명</a:t>
                      </a:r>
                    </a:p>
                  </a:txBody>
                  <a:tcPr/>
                </a:tc>
              </a:tr>
              <a:tr h="372804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경남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188건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178명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280160"/>
          <a:ext cx="51206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645920"/>
                <a:gridCol w="1371600"/>
                <a:gridCol w="1371600"/>
              </a:tblGrid>
              <a:tr h="372793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순위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지역명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총 점검수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점검 인원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서울강남1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196건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171명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서울강남2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180건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167명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경기북부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182건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166명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본사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181건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157명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대전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138건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133명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전북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139건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133명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제주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152건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126명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인천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118건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113명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단무도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107건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103명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서울강북3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114건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102명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울산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81건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75명</a:t>
                      </a:r>
                    </a:p>
                  </a:txBody>
                  <a:tcPr/>
                </a:tc>
              </a:tr>
              <a:tr h="372804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충북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61건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F497D"/>
                          </a:solidFill>
                          <a:latin typeface="Malgun Gothic"/>
                        </a:defRPr>
                      </a:pPr>
                      <a:r>
                        <a:t>61명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Malgun Gothic"/>
              </a:defRPr>
            </a:pPr>
            <a:r>
              <a:t>DETAILED BRANCH STATS (PART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Malgun Gothic"/>
              </a:defRPr>
            </a:pPr>
            <a:r>
              <a:t>서울 및 경기 북부 권역 세부 현황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본사 (157명)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신입경영홍보실(78명)    • 천화원(29명)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미지정 지점(19명)     • 청년인재팀(13명)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인력관리팀(11명)      • 직무교육팀(3명)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회계팀(2명)         • 경영팀(1명)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정보상황팀(1명)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서울강북1 (202명)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광화문: 56명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공덕: 44명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연신내: 40명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홍제: 34명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왕십리: 28명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37160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서울강북2 (245명)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78308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창동: 85명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구의: 47명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구리: 42명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수유: 33명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의정부: 25명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성북: 13명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31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서울강북3 (102명)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25196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상계: 82명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마들: 15명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공릉: 5명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84048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931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서울강남1 (171명)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25196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둔촌: 103명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잠실: 51명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강남: 13명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서초: 4명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384048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3931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서울강남2 (167명)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425196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신도림: 99명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양천구: 34명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이수: 21명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여의도: 7명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강서: 6명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Malgun Gothic"/>
              </a:defRPr>
            </a:pPr>
            <a:r>
              <a:t>DETAILED BRANCH STATS (PART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Malgun Gothic"/>
              </a:defRPr>
            </a:pPr>
            <a:r>
              <a:t>경기 남부 및 인천 권역 세부 현황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경기북부 (166명)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화정: 104명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김포: 26명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일산: 14명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마두: 12명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파주: 10명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경기남부1 (234명)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과천: 77명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산본: 56명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평촌: 43명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안양1번가: 38명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고잔: 20명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37160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경기남부2 (204명)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78308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수지: 74명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야탑: 50명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서현: 46명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미금: 29명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이천: 5명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84048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3931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경기남부3 (268명)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25196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천천동: 190명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동탄: 34명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평택: 25명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오산: 12명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영통: 7명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384048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3931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인천 (113명)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25196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논현: 47명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부평: 20명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상동: 17명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주안: 16명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송도: 7명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검단: 6명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Malgun Gothic"/>
              </a:defRPr>
            </a:pPr>
            <a:r>
              <a:t>DETAILED BRANCH STATS (PART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Malgun Gothic"/>
              </a:defRPr>
            </a:pPr>
            <a:r>
              <a:t>강원, 대전 및 충청 권역 세부 현황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강원 (178명)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춘천: 66명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강릉: 65명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원주: 24명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동해: 23명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대전 (133명)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8308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송촌: 43명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둔산: 32명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서대전: 32명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월평: 26명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충북 (61명)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5196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율량: 31명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가경: 19명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제천: 6명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금천: 5명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84048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충남 (201명)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5196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세종아름: 61명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충무: 55명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불당: 46명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서산: 20명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아산: 19명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Malgun Gothic"/>
              </a:defRPr>
            </a:pPr>
            <a:r>
              <a:t>DETAILED BRANCH STATS (PART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Malgun Gothic"/>
              </a:defRPr>
            </a:pPr>
            <a:r>
              <a:t>호남 및 대구·경북 권역 세부 현황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광주전남 (272명)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첨단: 137명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여수: 45명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순천: 41명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진월: 34명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동광주: 11명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서구: 4명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전북 (133명)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8308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인후: 48명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익산: 24명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정읍: 24명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군산: 19명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효자: 18명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대구 (204명)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5196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시지(56명)         • 상인(39명)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방촌(29명)         • 범어(28명)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월배(19명)         • 성서(14명)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침산(13명)         • 수성(6명)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84048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경북 (409명)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5196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안동(102명)        • 대이(76명)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두호(64명)         • 구미(56명)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상주(42명)         • 경주(32명)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문경(15명)         • 경산(13명)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김천(9명)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Malgun Gothic"/>
              </a:defRPr>
            </a:pPr>
            <a:r>
              <a:t>DETAILED BRANCH STATS (PART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Malgun Gothic"/>
              </a:defRPr>
            </a:pPr>
            <a:r>
              <a:t>부산·울산·경남 및 기타 권역 세부 현황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경남 (178명)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거제(33명)         • 진주(32명)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창원(32명)         • 내외(30명)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마산(30명)         • 진해(11명)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명곡(10명)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울산 (75명)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대송: 35명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북구: 19명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중구: 14명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울산: 7명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37160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부산 (362명)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78308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양정(65명)         • 다대(63명)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대연(48명)         • 사직(42명)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금정(31명)         • 온천장(26명)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하단(24명)         • 양산(21명)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영도(17명)         • 기장(16명)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동래(9명)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84048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3931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제주 (126명)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25196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서귀포: 49명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노형: 42명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Malgun Gothic"/>
              </a:defRPr>
            </a:pPr>
            <a:r>
              <a:t>• 일도: 35명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3840480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3931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Malgun Gothic"/>
              </a:defRPr>
            </a:pPr>
            <a:r>
              <a:t>📍 단무도 (103명)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251960"/>
            <a:ext cx="3017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단무도부천(31명)      • 단무도부산(17명)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단무도일산(16명)      • 단무도평촌(16명)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단무도서울(8명)       • 단무도창원(8명)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Malgun Gothic"/>
              </a:defRPr>
            </a:pPr>
            <a:r>
              <a:t>• 단무도대구(7명)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