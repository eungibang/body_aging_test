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B82F6"/>
                </a:solidFill>
                <a:latin typeface="Malgun Gothic"/>
              </a:defRPr>
            </a:pPr>
            <a:r>
              <a:t>본사 회원 데이터 통계 리포트</a:t>
            </a:r>
          </a:p>
          <a:p>
            <a:pPr>
              <a:spcAft>
                <a:spcPts val="2000"/>
              </a:spcAft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3Body 7Code AI분석 최종 결과 보고</a:t>
            </a:r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t>기준 일자: 2026. 06. 15.  |  대상 데이터: members_v4 (AI분석 완료 기준)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OVERALL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📊 전국 점검 현황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46E5"/>
                </a:solidFill>
                <a:latin typeface="Malgun Gothic"/>
              </a:defRPr>
            </a:pPr>
            <a:r>
              <a:t>🏆 AI분석 완료 인원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F172A"/>
                </a:solidFill>
                <a:latin typeface="Malgun Gothic"/>
              </a:defRPr>
            </a:pPr>
            <a:r>
              <a:t>2,429명</a:t>
            </a:r>
          </a:p>
          <a:p>
            <a:pPr>
              <a:defRPr sz="1400" b="1">
                <a:solidFill>
                  <a:srgbClr val="64748B"/>
                </a:solidFill>
                <a:latin typeface="Malgun Gothic"/>
              </a:defRPr>
            </a:pPr>
            <a:r>
              <a:t>(신규 2,049명 / 기존 380명)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신규 회원 비중: 84.4%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기존 회원 비중: 15.6%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기타(미분류 유형): 232명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총 데이터 원본(분석완료): 2,661명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🧹 데이터 클리닝 및 제외 내역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200">
                <a:solidFill>
                  <a:srgbClr val="64748B"/>
                </a:solidFill>
                <a:latin typeface="Malgun Gothic"/>
              </a:defRPr>
            </a:pPr>
            <a:r>
              <a:t>기기 오집계 및 분석 미완료 데이터를 제외하는 보정 알고리즘을 적용한 데이터 클리닝 결과입니다.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분석 대기 제외 (pending-): 2,421건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기기 활성화 이전 데이터 제외 (천천동 국한): 78건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본사 교육/테스트 데이터 제외: 94건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algun Gothic"/>
              </a:defRPr>
            </a:pPr>
            <a:r>
              <a:t>• 지점 합동코드(EVT_) 재배정 완료: 408건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REGIONAL RANKINGS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📍 전국 지역별 실적 순위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51206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554480"/>
                <a:gridCol w="1005840"/>
                <a:gridCol w="91440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227명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90명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187명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162명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25명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150명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경기북부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149명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140명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136명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서울강북2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133명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35명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113명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99명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서울강남1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106명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강원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102명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97명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371600"/>
          <a:ext cx="5120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554480"/>
                <a:gridCol w="1005840"/>
                <a:gridCol w="91440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96명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제주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90명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서울강남2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85명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전북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73명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광주전남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68명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단무도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66명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서울강북3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62명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인천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52명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울산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50명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49명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29명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14명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서울강북1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BRANCH TOP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🏆 전국 지점별 Top 20 실적 순위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5120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280160"/>
                <a:gridCol w="1188720"/>
                <a:gridCol w="731520"/>
                <a:gridCol w="640080"/>
                <a:gridCol w="73152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지점명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소속 지역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화정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경기북부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93명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천천동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78명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상주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74명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둔촌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서울강남1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70명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과천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55명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송촌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49명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49명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하단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상계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서울강북3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범어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11명</a:t>
                      </a:r>
                    </a:p>
                  </a:txBody>
                  <a:tcPr/>
                </a:tc>
              </a:tr>
              <a:tr h="3990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양정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371600"/>
          <a:ext cx="5120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280160"/>
                <a:gridCol w="1188720"/>
                <a:gridCol w="731520"/>
                <a:gridCol w="640080"/>
                <a:gridCol w="73152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지점명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소속 지역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기존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불당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창원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춘천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강원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40명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안양1번가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36명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서귀포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제주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34명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상인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34명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세종아름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34명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창동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서울강북2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33명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13명</a:t>
                      </a:r>
                    </a:p>
                  </a:txBody>
                  <a:tcPr/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동탄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33명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33명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0명</a:t>
                      </a:r>
                    </a:p>
                  </a:txBody>
                  <a:tcPr/>
                </a:tc>
              </a:tr>
              <a:tr h="3990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야탑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Malgun Gothic"/>
                        </a:defRPr>
                      </a:pPr>
                      <a:r>
                        <a:t>32명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DETAILED BRANCH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🔍 지역별 지점 상세 현황 (1/4)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강원  (합계 102명 - 신규 98 / 기존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춘천(40명)   강릉(21명)   동해(21명)   원주(20명)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경기남부1  (합계 140명 - 신규 130 / 기존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과천(55명)   안양1번가(36명)   산본(30명)   평촌(15명)   고잔(4명)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경기남부2  (합계 96명 - 신규 86 / 기존 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야탑(32명)   수지(27명)   서현(18명)   미금(14명)   이천(5명)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경기남부3  (합계 150명 - 신규 140 / 기존 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천천동(78명)   동탄(33명)   평택(23명)   오산(10명)   영통(6명)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경기북부  (합계 149명 - 신규 143 / 기존 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290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화정(93명)   김포(24명)   일산(16명)   마두(10명)   파주(6명)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66344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경남  (합계 113명 - 신규 99 / 기존 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749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창원(41명)   거제(22명)   마산(16명)   내외(13명)   진주(11명)   진해(5명)   명곡(5명)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DETAILED BRANCH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🔍 지역별 지점 상세 현황 (2/4)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경북  (합계 187명 - 신규 147 / 기존 40)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상주(74명)   두호(30명)   경주(19명)   구미(19명)   안동(16명)   대이(10명)   경산(9명)   김천(5명)   영주(5명)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광주전남  (합계 68명 - 신규 46 / 기존 22)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첨단(23명)   진월(15명)   순천(15명)   동광주(9명)   여수(4명)   서구(2명)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단무도  (합계 66명 - 신규 55 / 기존 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단무도부천(18명)   단무도평촌(16명)   단무도부산(12명)   단무도일산(9명)   단무도서울(7명)   단무도창원(2명)   단무도대구(2명)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대구  (합계 162명 - 신규 137 / 기존 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범어(44명)   상인(34명)   방촌(26명)   시지(20명)   월배(16명)   성서(10명)   침산(7명)   수성(5명)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대전  (합계 97명 - 신규 88 / 기존 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290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송촌(49명)   서대전(26명)   월평(15명)   둔산(7명)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66344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부산  (합계 227명 - 신규 137 / 기존 90)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749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하단(46명)   양정(43명)   대연(31명)   금정(20명)   사직(19명)   다대(14명)   온천장(14명)   양산(13명)   영도(12명)   동래(9명)</a:t>
            </a:r>
          </a:p>
          <a:p>
            <a:pPr>
              <a:defRPr sz="900" i="1">
                <a:solidFill>
                  <a:srgbClr val="64748B"/>
                </a:solidFill>
                <a:latin typeface="Malgun Gothic"/>
              </a:defRPr>
            </a:pPr>
            <a:r>
              <a:t>...외 1개 지점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DETAILED BRANCH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🔍 지역별 지점 상세 현황 (3/4)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서울강남1  (합계 106명 - 신규 104 / 기존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둔촌(70명)   잠실(18명)   강남(14명)   서초(4명)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서울강남2  (합계 85명 - 신규 76 / 기존 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양천구(29명)   신도림(27명)   이수(17명)   여의도(6명)   강서(6명)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서울강북1  (합계 42명 - 신규 32 / 기존 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연신내(20명)   공덕(8명)   광화문(7명)   홍제(5명)   왕십리(2명)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서울강북2  (합계 133명 - 신규 98 / 기존 35)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창동(33명)   구의(28명)   수유(26명)   구리(24명)   의정부(17명)   성북(5명)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서울강북3  (합계 62명 - 신규 56 / 기존 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290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상계(45명)   마들(14명)   공릉(3명)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66344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울산  (합계 50명 - 신규 49 / 기존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749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대송(20명)   북구(12명)   중구(10명)   울산(8명)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Malgun Gothic"/>
              </a:defRPr>
            </a:pPr>
            <a:r>
              <a:t>DETAILED BRANCH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🔍 지역별 지점 상세 현황 (4/4)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인천  (합계 52명 - 신규 46 / 기존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논현(15명)   부평(12명)   주안(10명)   상동(6명)   송도(5명)   검단(4명)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전북  (합계 73명 - 신규 63 / 기존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인후(30명)   정읍(19명)   효자(14명)   익산(6명)   군산(4명)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제주  (합계 90명 - 신규 74 / 기존 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서귀포(34명)   노형(29명)   일도(27명)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충남  (합계 136명 - 신규 116 / 기존 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불당(42명)   세종아름(34명)   충무(32명)   아산(17명)   서산(11명)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120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📍 충북  (합계 43명 - 신규 29 / 기존 14)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290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  <a:latin typeface="Malgun Gothic"/>
              </a:defRPr>
            </a:pPr>
            <a:r>
              <a:t>율량(24명)   가경(13명)   금천(3명)   제천(3명)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