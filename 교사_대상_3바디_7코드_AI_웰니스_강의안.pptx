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28600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교사 홀리스틱 웰니스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B82F6"/>
                </a:solidFill>
                <a:latin typeface="Malgun Gothic"/>
              </a:defRPr>
            </a:pPr>
            <a:r>
              <a:t>3바디 7코드 AI로 만나는 새로운 건강 패러다임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교직 생활의 에너지를 깨우는 30분 웰니스 가이드</a:t>
            </a:r>
          </a:p>
          <a:p>
            <a:pPr>
              <a:spcAft>
                <a:spcPts val="2400"/>
              </a:spcAft>
              <a:defRPr sz="1600" b="0">
                <a:solidFill>
                  <a:srgbClr val="FFFFFF"/>
                </a:solidFill>
                <a:latin typeface="Malgun Gothic"/>
              </a:defRPr>
            </a:pPr>
            <a:r>
              <a:t>몸·마음·뇌의 통합적 균형과 7코드 에너지 기반 자가 컨디션 관리 솔루션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Malgun Gothic"/>
              </a:defRPr>
            </a:pPr>
            <a:r>
              <a:t>공동 연구 개발: 국가공인 브레인트레이너 전문가 단체 · 한국뇌과학연구원 · 글로벌사이버대학교</a:t>
            </a:r>
          </a:p>
          <a:p>
            <a:pPr>
              <a:defRPr sz="1200">
                <a:solidFill>
                  <a:srgbClr val="64748B"/>
                </a:solidFill>
                <a:latin typeface="Malgun Gothic"/>
              </a:defRPr>
            </a:pPr>
            <a:r>
              <a:t>제공 기관: 브레인트레이닝센터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INTEGRATED HEALTH NEEDS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신체·마음·뇌의 통합적 균형: 홀리스틱 웰니스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B365D"/>
                </a:solidFill>
                <a:latin typeface="Malgun Gothic"/>
              </a:defRPr>
            </a:pPr>
            <a:r>
              <a:t>💪 육체 중심 관리의 한계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반쪽짜리 건강 관리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요가, 헬스 등 신체 단련만으로는 쌓인 스트레스와 피로를 온전히 해결할 수 없습니다. 몸의 피로는 정신적 피로와 유기적으로 연결되어 있습니다.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몸과 뇌의 피드백 작용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육체의 만성적 긴장은 뇌의 자율신경 조절 기능을 떨어뜨려 스트레스 민감도를 높집니다.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B365D"/>
                </a:solidFill>
                <a:latin typeface="Malgun Gothic"/>
              </a:defRPr>
            </a:pPr>
            <a:r>
              <a:t>❤️ 교직 생활 속 번아웃과 스트레스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일상 스트레스 인지율 25.9%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질병관리청 통계에 따르면 성인 4명 중 1명은 일상 중 높은 수준의 스트레스를 경험합니다. 교사는 학생 지도와 행정 업무로 인해 그 노출 빈도가 더 높습니다.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교사 번아웃 경험률 60~70% 돌파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감정 노동과 직무 과부하로 정서적 고갈과 무기력을 느끼는 교직원이 매년 빠르게 증가하고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B365D"/>
                </a:solidFill>
                <a:latin typeface="Malgun Gothic"/>
              </a:defRPr>
            </a:pPr>
            <a:r>
              <a:t>🧠 현대 의과학적 연계성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심신신경면역학 (PNI) 입증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스트레스 자극은 뇌의 HPA 축을 통해 코르티솔 분비를 유도하고, 신체의 면역 저하 및 소화기 장애로 직결됩니다.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Nature 2023 SCAN 연구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대뇌 1차 운동 피질 내부에는 신체 움직임, 인지 제어, 그리고 내부 생리 상태(혈압 등)를 동시 조절하는 기능적 네트워크의 존재가 보고되었습니다.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ENERGY &amp; 7CODE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컨디션을 결정하는 열쇠: 생체 에너지와 7코드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🔄 컨디션을 결정하는 에너지 순환의 고리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에너지가 저하될 때 (악순환)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에너지가 떨어지면 기분 기복이 심해지고, 이는 자율신경계를 자극해 소화장애, 근육 긴장을 유발합니다. 이는 결국 뇌의 스트레스 인지 민감도를 증대시킵니다.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에너지가 활성화될 때 (선순환)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체내 에너지 흐름이 활발해지면 정서가 이완되고, 신체 대사 기능과 자가 치유 능력이 극대화됩니다. 뇌파가 가라앉으며 의사결정 속도와 활력이 향상됩니다.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📜 고대의 신체 이론에서 과학적 7코드로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동양 철학의 '3단전'과 인도의 '7차크라'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고대의 전통 의학에서는 인체의 건강 중심점을 에너지가 모이는 세 군데의 '단전(하단전, 중단전, 상단전)'과 '일곱 개의 에너지 바퀴(차크라)'로 설명해왔습니다.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현대 해부학을 기반으로 계량화한 7CODE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브레인트레이닝센터는 이 에너지 중심점들의 실체가 우리 몸의 '자율신경총(Nerve Plexus)' 및 '호르몬 내분비선'의 위치와 일치함에 주목하여, 일반인 누구나 자신의 에너지 밸런스를 직관적으로 확인할 수 있도록 계량화했습니다.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7CODE ANATOMICAL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7CODE 에너지 시스템의 자율신경총 및 내분비선 해석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7CODE 시스템은 인체의 주요 신경 다발과 호르몬 분비관을 7단계 에너지 센터로 규정하여, 각 영역이 지배하는 생리적 및 정서적 밸런스를 측정하는 도구입니다.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94560"/>
                <a:gridCol w="2011680"/>
                <a:gridCol w="4480560"/>
                <a:gridCol w="914400"/>
              </a:tblGrid>
              <a:tr h="56007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코드 구분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대응 자율신경총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대응 내분비선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주요 기능 (생리적/심리적)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설명모델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1CODE (기초/생존)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골반 신경총 (Pelvic Plexus)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부신 (Adrenal Gland)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스트레스 대응, 아드레날린 분비 조절, 하체 밸런스 및 생존 활력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생리학적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2CODE (감정/관계)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하복부/요천추 신경총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생식선 (Ovaries/Testes)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에너지 및 체액의 하체 순환, 타인 수용력, 감정 기복 조절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상관성을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3CODE (의욕/추진)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복강/태양신경총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췌장 (Pancreas)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대사 작용 및 소화기능 지배, 주체적인 통제력, 자존감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이해하기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4CODE (사랑/안정)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심장 신경총 (Cardiac Plexus)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흉선 (Thymus Gland)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면역 활성 조절 지원, 가슴 답답함 완화, 정서적 회복탄력성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위한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5CODE (소통/표현)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경부/인두 신경총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갑상선 (Thyroid Gland)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기초대사량 조절, 창의적 자기 표현, 목과 어깨 긴장 완화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통합적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6CODE (집중/통찰)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두개강 내 신경망 (송과체 주변)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뇌하수체 (Pituitary Gland)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수면 주기 및 호르몬 총괄 통제, 감정 통제 및 판단력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참고적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7CODE (방향/의미)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대뇌피질 및 중추신경계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송과체 (Pineal Gland)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고차원 인지 기능, 삶의 가치와 정체성 방향성 수립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설명모델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AI TECHNOLOGY &amp;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카메라 하나로 파악하는 AI 컴퓨터 비전 정밀 트래킹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1005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B365D"/>
                </a:solidFill>
                <a:latin typeface="Malgun Gothic"/>
              </a:defRPr>
            </a:pPr>
            <a:r>
              <a:t>💡 독자적 AI 기술 탑재로 측정의 신뢰성과 객관성 확보 (관련 특허출원 신청 진행 중)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E293B"/>
                </a:solidFill>
                <a:latin typeface="Malgun Gothic"/>
              </a:defRPr>
            </a:pPr>
            <a:r>
              <a:t>모바일/태블릿 기기의 웹 환경에서 별도의 외부 센서 부착 없이, 오직 카메라를 기반으로 한 실시간 물리 데이터 추출 엔진을 탑재해 3바디 상태를 정확하게 추적합니다.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2918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B365D"/>
                </a:solidFill>
                <a:latin typeface="Malgun Gothic"/>
              </a:defRPr>
            </a:pPr>
            <a:r>
              <a:t>🛡️ 실시간 움직임 흔들림 감지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미세 흔들림 추적 (Sway Score)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자세를 유지할 때 발생하는 미세한 좌표 흔들림을 추적하여 흔들림 계수(Sway Score)로 연산해 밸런스를 측정합니다.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Foot Drop 센싱 기술 적용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양 발목 Y축 좌표의 실시간 프레임 변동을 정밀 검지하여 외발 서기 중 발이 닿는 행위를 자동 판정합니다.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468880"/>
            <a:ext cx="32918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B365D"/>
                </a:solidFill>
                <a:latin typeface="Malgun Gothic"/>
              </a:defRPr>
            </a:pPr>
            <a:r>
              <a:t>⚡ 최적화 연산 및 가려짐 극복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WebGL 메모리 관리 아키텍처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매 프레임 생성되는 영상 텍스처 데이터를 실시간으로 소멸시켜 저사양 웹 브라우저에서도 끊김 현상이 발생하지 않습니다.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관절 가려짐(Occlusion) 보정 알고리즘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운동 수행 중 관절이 겹치는 부위를 수학적 최적 추정 기법으로 보완하여 끊김 없는 좌표 추출이 가능합니다.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468880"/>
            <a:ext cx="33832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65176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B365D"/>
                </a:solidFill>
                <a:latin typeface="Malgun Gothic"/>
              </a:defRPr>
            </a:pPr>
            <a:r>
              <a:t>📊 신체/체력 나이 역산 시스템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연령/성별 대조 정규화 스코어링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한국인의 성별, 연령대별 평균 달성 표준에 따라 선형 보간 채점하여 관대한 임의 채점을 원천 차단합니다.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다차원 가중치 결합 공식 적용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근력, 유연성, 자세 제어, 밸런스 등 여러 테스트의 달성 결과를 적정 비율의 가중치로 합산하여 최종 건강 연령을 도출합니다.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ONE-LEG STAND &amp; 3BODY 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눈감고 한발서기: 신체·마음·뇌의 종합 밸런스 테스트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B365D"/>
                </a:solidFill>
                <a:latin typeface="Malgun Gothic"/>
              </a:defRPr>
            </a:pPr>
            <a:r>
              <a:t>💪 몸(신체): 하체 근력과 정렬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건강나이의 직접적 지표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하체 근력과 척추의 뼈대 정렬을 측정하는 대표적인 국민 체력 표준입니다. 하체 근력이 탄탄할수록 서 있을 때 든든한 안정감이 확보됩니다.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기둥이 무너질 때의 흔들림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골반과 코어 근육이 약하면 발이 지면에 닿기 전에 신체가 크게 요동치게 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🧠 뇌(두뇌): 소뇌 균형감각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시각 차단과 평형 유지 능력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눈을 감는 순간 외부 시각 정보가 100% 차단되므로, 우리 뇌는 몸 전체 관절의 위치 감각(고유수용기 감각)에만 전적으로 의존하게 됩니다.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소뇌의 실시간 평형 연산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소뇌(Cerebellum)는 내이의 전정감각과 척수의 운동 정보를 고속으로 연산하여 신체 균형을 실시간으로 바로잡습니다.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B365D"/>
                </a:solidFill>
                <a:latin typeface="Malgun Gothic"/>
              </a:defRPr>
            </a:pPr>
            <a:r>
              <a:t>❤️ 마음(정서): 스트레스와 잡념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불안과 뇌 잡념(DMN)의 방해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머릿속에 불필요한 생각과 스트레스가 많으면 뇌파가 요동쳐 순간적인 평정심과 집중력을 완전히 상실하게 됩니다.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방전 시 15초 유지의 한계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컨디션(에너지)이 심각하게 저하되어 중심이 무너져 있는 상태라면 단 15초조차 눈을 감고 흔들림 없이 버티는 것은 대단히 어렵습니다.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BEM CLINICAL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뇌기반 명상(BEM)의 임상적 실효성 및 인지 조절 능력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🎓 자기 조절력 및 주도성 향상 효과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국내 아동/청소년 명상 수련 그룹 임상 연구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중학생을 대상으로 8주간 지속적인 뇌기반 명상을 지도한 결과, 기분 변화 제어력이 향상되어 '자기주도학습능력'이 유의하게 늘어났음이 확인되었습니다.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메타인지 및 주의 제어력 발달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자신의 감정 상태를 인지적으로 제3자 관점에서 내려다볼 수 있는 주의 제어 장치가 훈련을 통해 가시적으로 향상됩니다.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🧠 스트레스 이완 및 뇌 기능 활성화 기전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DMN(디폴트 모드 네트워크) 과활성 억제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잡념과 불안이 가중될 때 흥분하는 뇌의 DMN 영역을 이완 훈련으로 제어하여, 쓸데없는 뇌의 피로와 과부하를 즉각적으로 리셋합니다.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행복 전달 물질 도파민 및 호르몬 안정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명상 수련 후 스트레스 척도 설문지 지표 개선은 물론 혈액 분석을 통해 긍정적 뇌 기능 분비물의 분비 향상이 입증되었습니다.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4748B"/>
                </a:solidFill>
                <a:latin typeface="Malgun Gothic"/>
              </a:defRPr>
            </a:pPr>
            <a:r>
              <a:t>※ 만성 대사 및 염증 발현 지표 수치는 내부 예비 연구 결과로서, 대외 발표시엔 연구 개요를 참조합니다.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HABIT FORMATION &amp; BRAIN CHEMISTRY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습관이 완전히 뇌에 정착되는 과정의 시간 기전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🌱 1단계: 21일 적응기 (Adaptation)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자아 이미지 저항 수용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맥스웰 몰츠 박사가 제안한 이론으로, 뇌가 낯선 행동이나 나의 변한 모습을 거부감 없이 인식하고 자아 이미지로 받아들이는 데 필요한 최초 적응 기간입니다.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뇌세포 생화학 신호 활성화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명상과 트레이닝이 더 이상 어색하지 않은 수준의 시냅스 연결 초기 단계에 해당합니다.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B365D"/>
                </a:solidFill>
                <a:latin typeface="Malgun Gothic"/>
              </a:defRPr>
            </a:pPr>
            <a:r>
              <a:t>🌿 2단계: 66일 자동화기 (Automaticity)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UCL 필리파 랠리 교수팀 입증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특정 행동이 자발적 의식의 감시나 수고 없이 무의식적인 습관으로 자동 수행(Automaticity)되는 평균 도달 기간입니다.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향상된 기능의 항상성 유도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하루 걸렀다고 즉각 무너지지 않고, 본래의 훈련 리듬으로 돌아오는 자발적인 조절 상태에 진입합니다.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F59E0B"/>
                </a:solidFill>
                <a:latin typeface="Malgun Gothic"/>
              </a:defRPr>
            </a:pPr>
            <a:r>
              <a:t>🌳 3단계: 100일 수초화기 (Myelination)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신경가소성에 따른 뇌 재배선 완료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지속해서 자극을 받은 신경의 전달 전도 속도를 100배 가량 고속화시키는 '축삭 수초화(Myelination)'가 뇌에 구축되는 단계입니다.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뇌의 기본 활성 상태 리모델링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의도적으로 노력하지 않아도 항상 평정심과 컨디션을 훌륭하게 자가 정렬시키는 강력한 뇌의 결속 상태(헤브의 법칙)가 정착됩니다.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PUBLIC &amp; CORPORATE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기관 도입의 타당성 및 신뢰도 검증 레퍼런스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1148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🚀 단기 대규모 검증 데이터 축적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64748B"/>
                </a:solidFill>
                <a:latin typeface="Malgun Gothic"/>
              </a:defRPr>
            </a:pPr>
            <a:r>
              <a:t>출시 2개월 만에 측정 누적 데이터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3200" b="1">
                <a:solidFill>
                  <a:srgbClr val="F59E0B"/>
                </a:solidFill>
                <a:latin typeface="Malgun Gothic"/>
              </a:defRPr>
            </a:pPr>
            <a:r>
              <a:t>8,000명 돌파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“단기간에 수천 명의 고유 점검 결과가 안정적으로 적재된 것은, 카메라 2D 트래킹 기술과 Web 가속화 기술이 현장 실증 과정에서 완벽히 작동했음을 상징합니다.”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371600"/>
            <a:ext cx="6309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554480"/>
            <a:ext cx="5943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🏢 주요 도입 관공서 및 공익 단체 레퍼런스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공공 지방자치단체 및 교육 기관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춘천시청, 포항시청, 천안시 행복키움단, 그리고 춘천교육청의 복지 프로그램으로 도입되어, 지역 보건 및 교사 직무 연수 프로그램으로 성공리에 운용되었습니다.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전문 의료진 및 공익·보건 협회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서울약사협회, 대구약사협회, 경북약사협회 등 전문 약사 회원들을 비롯하여 평택체육회, 안동노인회 등 객관적 결과 지표를 요구하는 단체들에서 성공적으로 사용되었습니다.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IT 혁신 기업 복지 연계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카카오(Kakao) 등 최첨단 IT 기업 소속 직장인들의 스트레스 증후군 조기 진단 및 멘탈 웰니스 강화의 실천 툴로 기여했습니다.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1-MIN ENERGY RESET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일상에서 즉시 에너지를 조절하는 '1분 뇌 휴식법'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💓 가슴 두드리기 &amp; '하' 방출 호흡법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1단계: 가슴 중앙 4코드 정렬하기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허리를 곧게 펴고 편히 앉아, 가슴 흉선 부위인 4코드를 가벼운 주먹이나 손가락 끝으로 톡톡 부드럽게 두드려 줍니다. 내면의 무거운 뭉침 상태를 풀어냅니다.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2단계: '하-' 방출구 호흡 실행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코로 맑은 산소를 가득 들이마신 후, 입을 가볍게 벌리고 '하-' 소리를 내며 몸 깊은 곳의 뜨거운 심화(心火) 스트레스 에너지를 길게 5회 토해 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3B82F6"/>
                </a:solidFill>
                <a:latin typeface="Malgun Gothic"/>
              </a:defRPr>
            </a:pPr>
            <a:r>
              <a:t>🧠 리셋 호흡법의 뇌과학적 원리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부교감 신경의 즉각적 활성화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가슴을 자극하고 긴 호흡을 내뱉는 행위는 교감 신경의 과부하로 뛰어오른 심장 박동을 낮추고 자율신경계 부교감 기능을 즉시 자극합니다.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뇌파를 안정 상태(알파파)로 정렬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스트레스로 조급해져 베타파 상태로 치닫던 뇌 신경 활동이 단 1분의 집중과 이완 호흡을 통해 고요하고 평온한 '알파파(Alpha Waves)'로 전환됩니다.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3B82F6"/>
                </a:solidFill>
                <a:latin typeface="Malgun Gothic"/>
              </a:defRPr>
            </a:pPr>
            <a:r>
              <a:t>“선생님의 3BODY 균형이 교실 전체의 행복을 만듭니다”</a:t>
            </a: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• 능동적인 자가 조절력 회복</a:t>
            </a:r>
          </a:p>
          <a:p>
            <a:pPr>
              <a:spcAft>
                <a:spcPts val="1600"/>
              </a:spcAft>
              <a:defRPr sz="1200">
                <a:solidFill>
                  <a:srgbClr val="64748B"/>
                </a:solidFill>
                <a:latin typeface="Malgun Gothic"/>
              </a:defRPr>
            </a:pPr>
            <a:r>
              <a:t>단순한 질병 부재를 넘어 스스로 몸과 마음, 뇌를 다각도로 보듬고 조화롭게 관리하는 자가 조절 훈련법(BOS)을 현장에 정착시키겠습니다.</a:t>
            </a: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• 1대1 웰니스 피드백 로드맵 안내</a:t>
            </a:r>
          </a:p>
          <a:p>
            <a:pPr>
              <a:spcAft>
                <a:spcPts val="3600"/>
              </a:spcAft>
              <a:defRPr sz="1200">
                <a:solidFill>
                  <a:srgbClr val="64748B"/>
                </a:solidFill>
                <a:latin typeface="Malgun Gothic"/>
              </a:defRPr>
            </a:pPr>
            <a:r>
              <a:t>오늘 측정받으신 결과에 따라 개인별 최적화된 호흡, 명상, 기공, 운동 훈련 맞춤 로드맵을 배부하며 가이드해 드리겠습니다. 경청해 주셔서 감사합니다.</a:t>
            </a:r>
          </a:p>
          <a:p>
            <a:pPr>
              <a:defRPr sz="1500" b="1">
                <a:solidFill>
                  <a:srgbClr val="F59E0B"/>
                </a:solidFill>
                <a:latin typeface="Malgun Gothic"/>
              </a:defRPr>
            </a:pPr>
            <a:r>
              <a:t>💡 Q&amp;A: 궁금하신 점을 편안하게 질문해 주십시오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